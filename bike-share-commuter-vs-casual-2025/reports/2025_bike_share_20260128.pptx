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25"/>
  </p:notesMasterIdLst>
  <p:sldIdLst>
    <p:sldId id="256" r:id="rId2"/>
    <p:sldId id="258" r:id="rId3"/>
    <p:sldId id="279" r:id="rId4"/>
    <p:sldId id="259" r:id="rId5"/>
    <p:sldId id="260" r:id="rId6"/>
    <p:sldId id="261" r:id="rId7"/>
    <p:sldId id="262" r:id="rId8"/>
    <p:sldId id="263" r:id="rId9"/>
    <p:sldId id="264" r:id="rId10"/>
    <p:sldId id="265" r:id="rId11"/>
    <p:sldId id="266" r:id="rId12"/>
    <p:sldId id="267" r:id="rId13"/>
    <p:sldId id="268" r:id="rId14"/>
    <p:sldId id="269" r:id="rId15"/>
    <p:sldId id="270" r:id="rId16"/>
    <p:sldId id="278" r:id="rId17"/>
    <p:sldId id="271" r:id="rId18"/>
    <p:sldId id="272" r:id="rId19"/>
    <p:sldId id="273" r:id="rId20"/>
    <p:sldId id="274" r:id="rId21"/>
    <p:sldId id="275" r:id="rId22"/>
    <p:sldId id="276" r:id="rId23"/>
    <p:sldId id="2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700" autoAdjust="0"/>
  </p:normalViewPr>
  <p:slideViewPr>
    <p:cSldViewPr snapToGrid="0" showGuides="1">
      <p:cViewPr varScale="1">
        <p:scale>
          <a:sx n="117" d="100"/>
          <a:sy n="117" d="100"/>
        </p:scale>
        <p:origin x="619" y="96"/>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Lst>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13" Type="http://schemas.openxmlformats.org/officeDocument/2006/relationships/slide" Target="slides/slide14.xml"/><Relationship Id="rId18" Type="http://schemas.openxmlformats.org/officeDocument/2006/relationships/slide" Target="slides/slide19.xml"/><Relationship Id="rId3" Type="http://schemas.openxmlformats.org/officeDocument/2006/relationships/slide" Target="slides/slide4.xml"/><Relationship Id="rId21" Type="http://schemas.openxmlformats.org/officeDocument/2006/relationships/slide" Target="slides/slide22.xml"/><Relationship Id="rId7" Type="http://schemas.openxmlformats.org/officeDocument/2006/relationships/slide" Target="slides/slide8.xml"/><Relationship Id="rId12" Type="http://schemas.openxmlformats.org/officeDocument/2006/relationships/slide" Target="slides/slide13.xml"/><Relationship Id="rId17" Type="http://schemas.openxmlformats.org/officeDocument/2006/relationships/slide" Target="slides/slide18.xml"/><Relationship Id="rId2" Type="http://schemas.openxmlformats.org/officeDocument/2006/relationships/slide" Target="slides/slide2.xml"/><Relationship Id="rId16" Type="http://schemas.openxmlformats.org/officeDocument/2006/relationships/slide" Target="slides/slide17.xml"/><Relationship Id="rId20" Type="http://schemas.openxmlformats.org/officeDocument/2006/relationships/slide" Target="slides/slide21.xml"/><Relationship Id="rId1" Type="http://schemas.openxmlformats.org/officeDocument/2006/relationships/slide" Target="slides/slide1.xml"/><Relationship Id="rId6" Type="http://schemas.openxmlformats.org/officeDocument/2006/relationships/slide" Target="slides/slide7.xml"/><Relationship Id="rId11" Type="http://schemas.openxmlformats.org/officeDocument/2006/relationships/slide" Target="slides/slide12.xml"/><Relationship Id="rId5" Type="http://schemas.openxmlformats.org/officeDocument/2006/relationships/slide" Target="slides/slide6.xml"/><Relationship Id="rId15" Type="http://schemas.openxmlformats.org/officeDocument/2006/relationships/slide" Target="slides/slide16.xml"/><Relationship Id="rId10" Type="http://schemas.openxmlformats.org/officeDocument/2006/relationships/slide" Target="slides/slide11.xml"/><Relationship Id="rId19" Type="http://schemas.openxmlformats.org/officeDocument/2006/relationships/slide" Target="slides/slide20.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5.xml"/><Relationship Id="rId22" Type="http://schemas.openxmlformats.org/officeDocument/2006/relationships/slide" Target="slides/slide2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hebu\OneDrive\Documents\Google%20Data%20Analytics\Course%208%20Google%20Data%20Analytics%20Capstone%20Complete%20Case%20Study\Track%20A%20Case%20Study%201\2025_bike_share_20260128.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hebu\OneDrive\Documents\Google%20Data%20Analytics\Course%208%20Google%20Data%20Analytics%20Capstone%20Complete%20Case%20Study\Track%20A%20Case%20Study%201\2025_bike_share_20260128.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thebu\OneDrive\Documents\Google%20Data%20Analytics\Course%208%20Google%20Data%20Analytics%20Capstone%20Complete%20Case%20Study\Track%20A%20Case%20Study%201\2025_bike_share_20260128.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thebu\OneDrive\Documents\Google%20Data%20Analytics\Course%208%20Google%20Data%20Analytics%20Capstone%20Complete%20Case%20Study\Track%20A%20Case%20Study%201\2025_bike_share_20260128.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thebu\OneDrive\Documents\Google%20Data%20Analytics\Course%208%20Google%20Data%20Analytics%20Capstone%20Complete%20Case%20Study\Track%20A%20Case%20Study%201\2025_bike_share_20260128.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thebu\OneDrive\Documents\Google%20Data%20Analytics\Course%208%20Google%20Data%20Analytics%20Capstone%20Complete%20Case%20Study\Track%20A%20Case%20Study%201\2025_bike_share_20260128.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thebu\OneDrive\Documents\Google%20Data%20Analytics\Course%208%20Google%20Data%20Analytics%20Capstone%20Complete%20Case%20Study\Track%20A%20Case%20Study%201\2025_bike_share_20260128.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thebu\OneDrive\Documents\Google%20Data%20Analytics\Course%208%20Google%20Data%20Analytics%20Capstone%20Complete%20Case%20Study\Track%20A%20Case%20Study%201\2025_bike_share_20260128.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thebu\OneDrive\Documents\Google%20Data%20Analytics\Course%208%20Google%20Data%20Analytics%20Capstone%20Complete%20Case%20Study\Track%20A%20Case%20Study%201\2025_bike_share_20260128.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thebu\OneDrive\Documents\Google%20Data%20Analytics\Course%208%20Google%20Data%20Analytics%20Capstone%20Complete%20Case%20Study\Track%20A%20Case%20Study%201\2025_bike_share_20260128.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320" b="1" i="0" u="none" strike="noStrike" kern="1200" cap="none" spc="150" baseline="0">
                <a:solidFill>
                  <a:schemeClr val="tx1">
                    <a:lumMod val="50000"/>
                    <a:lumOff val="50000"/>
                  </a:schemeClr>
                </a:solidFill>
                <a:latin typeface="Calibri" panose="020F0502020204030204" pitchFamily="34" charset="0"/>
                <a:ea typeface="Calibri" panose="020F0502020204030204" pitchFamily="34" charset="0"/>
                <a:cs typeface="Calibri" panose="020F0502020204030204" pitchFamily="34" charset="0"/>
              </a:defRPr>
            </a:pPr>
            <a:r>
              <a:rPr lang="en-US" sz="1400" b="1" cap="none" baseline="0" dirty="0">
                <a:solidFill>
                  <a:schemeClr val="tx2"/>
                </a:solidFill>
              </a:rPr>
              <a:t>Both casuals and members prefer electric bikes</a:t>
            </a:r>
          </a:p>
        </c:rich>
      </c:tx>
      <c:layout>
        <c:manualLayout>
          <c:xMode val="edge"/>
          <c:yMode val="edge"/>
          <c:x val="3.1403930080587436E-2"/>
          <c:y val="1.2121212121212121E-2"/>
        </c:manualLayout>
      </c:layout>
      <c:overlay val="0"/>
      <c:spPr>
        <a:noFill/>
        <a:ln>
          <a:noFill/>
        </a:ln>
        <a:effectLst/>
      </c:spPr>
      <c:txPr>
        <a:bodyPr rot="0" spcFirstLastPara="1" vertOverflow="ellipsis" vert="horz" wrap="square" anchor="ctr" anchorCtr="1"/>
        <a:lstStyle/>
        <a:p>
          <a:pPr algn="l">
            <a:defRPr sz="1320" b="1" i="0" u="none" strike="noStrike" kern="1200" cap="none" spc="150" baseline="0">
              <a:solidFill>
                <a:schemeClr val="tx1">
                  <a:lumMod val="50000"/>
                  <a:lumOff val="50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9.2267892859364389E-2"/>
          <c:y val="0.14384081402088278"/>
          <c:w val="0.89160314432085974"/>
          <c:h val="0.7917819760266841"/>
        </c:manualLayout>
      </c:layout>
      <c:barChart>
        <c:barDir val="col"/>
        <c:grouping val="clustered"/>
        <c:varyColors val="0"/>
        <c:ser>
          <c:idx val="0"/>
          <c:order val="0"/>
          <c:tx>
            <c:v>casuals</c:v>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Lbls>
            <c:dLbl>
              <c:idx val="0"/>
              <c:layout>
                <c:manualLayout>
                  <c:x val="0"/>
                  <c:y val="8.0906148867313909E-3"/>
                </c:manualLayout>
              </c:layout>
              <c:tx>
                <c:rich>
                  <a:bodyPr/>
                  <a:lstStyle/>
                  <a:p>
                    <a:fld id="{A2110382-6DA6-409D-8848-A349357C5B7E}" type="VALUE">
                      <a:rPr lang="en-US"/>
                      <a:pPr/>
                      <a:t>[VALUE]</a:t>
                    </a:fld>
                    <a:r>
                      <a:rPr lang="en-US"/>
                      <a:t> 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344D-4BCD-8270-6DA0FC38F662}"/>
                </c:ext>
              </c:extLst>
            </c:dLbl>
            <c:dLbl>
              <c:idx val="1"/>
              <c:layout>
                <c:manualLayout>
                  <c:x val="0"/>
                  <c:y val="8.0906148867313909E-3"/>
                </c:manualLayout>
              </c:layout>
              <c:tx>
                <c:rich>
                  <a:bodyPr/>
                  <a:lstStyle/>
                  <a:p>
                    <a:fld id="{44E23D92-9499-4B28-ADEB-2E717CC54452}" type="VALUE">
                      <a:rPr lang="en-US"/>
                      <a:pPr/>
                      <a:t>[VALUE]</a:t>
                    </a:fld>
                    <a:r>
                      <a:rPr lang="en-US"/>
                      <a:t> 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44D-4BCD-8270-6DA0FC38F662}"/>
                </c:ext>
              </c:extLst>
            </c:dLbl>
            <c:numFmt formatCode="#,##0.00" sourceLinked="0"/>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RideType_Data!$A$2:$A$3</c:f>
              <c:strCache>
                <c:ptCount val="2"/>
                <c:pt idx="0">
                  <c:v>classic bike</c:v>
                </c:pt>
                <c:pt idx="1">
                  <c:v>electric bike</c:v>
                </c:pt>
              </c:strCache>
            </c:strRef>
          </c:cat>
          <c:val>
            <c:numRef>
              <c:f>RideType_Data!$B$2:$B$3</c:f>
              <c:numCache>
                <c:formatCode>General</c:formatCode>
                <c:ptCount val="2"/>
                <c:pt idx="0">
                  <c:v>761949</c:v>
                </c:pt>
                <c:pt idx="1">
                  <c:v>1230155</c:v>
                </c:pt>
              </c:numCache>
            </c:numRef>
          </c:val>
          <c:extLst>
            <c:ext xmlns:c16="http://schemas.microsoft.com/office/drawing/2014/chart" uri="{C3380CC4-5D6E-409C-BE32-E72D297353CC}">
              <c16:uniqueId val="{00000002-344D-4BCD-8270-6DA0FC38F662}"/>
            </c:ext>
          </c:extLst>
        </c:ser>
        <c:ser>
          <c:idx val="1"/>
          <c:order val="1"/>
          <c:tx>
            <c:v>members</c:v>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dLbls>
            <c:dLbl>
              <c:idx val="0"/>
              <c:layout>
                <c:manualLayout>
                  <c:x val="-5.3794370738112648E-17"/>
                  <c:y val="6.0679611650484699E-3"/>
                </c:manualLayout>
              </c:layout>
              <c:tx>
                <c:rich>
                  <a:bodyPr/>
                  <a:lstStyle/>
                  <a:p>
                    <a:fld id="{BDD346A8-3C72-4F19-80BA-FF2E5CED6C0B}" type="VALUE">
                      <a:rPr lang="en-US"/>
                      <a:pPr/>
                      <a:t>[VALUE]</a:t>
                    </a:fld>
                    <a:r>
                      <a:rPr lang="en-US"/>
                      <a:t> 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44D-4BCD-8270-6DA0FC38F662}"/>
                </c:ext>
              </c:extLst>
            </c:dLbl>
            <c:dLbl>
              <c:idx val="1"/>
              <c:layout>
                <c:manualLayout>
                  <c:x val="0"/>
                  <c:y val="8.0906148867313909E-3"/>
                </c:manualLayout>
              </c:layout>
              <c:tx>
                <c:rich>
                  <a:bodyPr/>
                  <a:lstStyle/>
                  <a:p>
                    <a:fld id="{FF61BE1D-D40F-415B-B321-3D3BAAB3FFB4}" type="VALUE">
                      <a:rPr lang="en-US"/>
                      <a:pPr/>
                      <a:t>[VALUE]</a:t>
                    </a:fld>
                    <a:r>
                      <a:rPr lang="en-US"/>
                      <a:t> 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344D-4BCD-8270-6DA0FC38F662}"/>
                </c:ext>
              </c:extLst>
            </c:dLbl>
            <c:numFmt formatCode="#,##0.00" sourceLinked="0"/>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RideType_Data!$A$2:$A$3</c:f>
              <c:strCache>
                <c:ptCount val="2"/>
                <c:pt idx="0">
                  <c:v>classic bike</c:v>
                </c:pt>
                <c:pt idx="1">
                  <c:v>electric bike</c:v>
                </c:pt>
              </c:strCache>
            </c:strRef>
          </c:cat>
          <c:val>
            <c:numRef>
              <c:f>RideType_Data!$C$2:$C$3</c:f>
              <c:numCache>
                <c:formatCode>General</c:formatCode>
                <c:ptCount val="2"/>
                <c:pt idx="0">
                  <c:v>1390323</c:v>
                </c:pt>
                <c:pt idx="1">
                  <c:v>2118878</c:v>
                </c:pt>
              </c:numCache>
            </c:numRef>
          </c:val>
          <c:extLst>
            <c:ext xmlns:c16="http://schemas.microsoft.com/office/drawing/2014/chart" uri="{C3380CC4-5D6E-409C-BE32-E72D297353CC}">
              <c16:uniqueId val="{00000005-344D-4BCD-8270-6DA0FC38F662}"/>
            </c:ext>
          </c:extLst>
        </c:ser>
        <c:dLbls>
          <c:dLblPos val="outEnd"/>
          <c:showLegendKey val="0"/>
          <c:showVal val="1"/>
          <c:showCatName val="0"/>
          <c:showSerName val="0"/>
          <c:showPercent val="0"/>
          <c:showBubbleSize val="0"/>
        </c:dLbls>
        <c:gapWidth val="164"/>
        <c:overlap val="-22"/>
        <c:axId val="1005995279"/>
        <c:axId val="1006005359"/>
      </c:barChart>
      <c:catAx>
        <c:axId val="1005995279"/>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006005359"/>
        <c:crosses val="autoZero"/>
        <c:auto val="1"/>
        <c:lblAlgn val="ctr"/>
        <c:lblOffset val="100"/>
        <c:noMultiLvlLbl val="0"/>
      </c:catAx>
      <c:valAx>
        <c:axId val="1006005359"/>
        <c:scaling>
          <c:orientation val="minMax"/>
        </c:scaling>
        <c:delete val="0"/>
        <c:axPos val="l"/>
        <c:majorGridlines>
          <c:spPr>
            <a:ln>
              <a:solidFill>
                <a:schemeClr val="tx1">
                  <a:lumMod val="15000"/>
                  <a:lumOff val="85000"/>
                </a:schemeClr>
              </a:solidFill>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005995279"/>
        <c:crosses val="autoZero"/>
        <c:crossBetween val="between"/>
        <c:majorUnit val="250000"/>
        <c:dispUnits>
          <c:builtInUnit val="millions"/>
          <c:dispUnitsLbl>
            <c:layout>
              <c:manualLayout>
                <c:xMode val="edge"/>
                <c:yMode val="edge"/>
                <c:x val="3.2256292642561753E-2"/>
                <c:y val="6.818983034643597E-2"/>
              </c:manualLayout>
            </c:layout>
            <c:tx>
              <c:rich>
                <a:bodyPr rot="0" spcFirstLastPara="1" vertOverflow="ellipsis" wrap="square" anchor="ctr" anchorCtr="1"/>
                <a:lstStyle/>
                <a:p>
                  <a:pPr algn="l">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b="1" dirty="0"/>
                    <a:t>Ride count M</a:t>
                  </a:r>
                </a:p>
              </c:rich>
            </c:tx>
            <c:spPr>
              <a:noFill/>
              <a:ln>
                <a:noFill/>
              </a:ln>
              <a:effectLst/>
            </c:spPr>
            <c:txPr>
              <a:bodyPr rot="0" spcFirstLastPara="1" vertOverflow="ellipsis" wrap="square" anchor="ctr" anchorCtr="1"/>
              <a:lstStyle/>
              <a:p>
                <a:pPr algn="l">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ispUnitsLbl>
        </c:dispUnits>
      </c:valAx>
      <c:spPr>
        <a:noFill/>
        <a:ln>
          <a:noFill/>
        </a:ln>
        <a:effectLst/>
      </c:spPr>
    </c:plotArea>
    <c:legend>
      <c:legendPos val="t"/>
      <c:layout>
        <c:manualLayout>
          <c:xMode val="edge"/>
          <c:yMode val="edge"/>
          <c:x val="0.70855145595784852"/>
          <c:y val="7.0249196913684947E-2"/>
          <c:w val="0.23892542266044603"/>
          <c:h val="5.4521620706090866E-2"/>
        </c:manualLayout>
      </c:layout>
      <c:overlay val="1"/>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chart>
  <c:spPr>
    <a:noFill/>
    <a:ln w="9525" cap="flat" cmpd="sng" algn="ctr">
      <a:noFill/>
      <a:round/>
    </a:ln>
    <a:effectLst/>
  </c:spPr>
  <c:txPr>
    <a:bodyPr/>
    <a:lstStyle/>
    <a:p>
      <a:pPr>
        <a:defRPr sz="11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none" spc="150" baseline="0">
                <a:solidFill>
                  <a:schemeClr val="tx1">
                    <a:lumMod val="50000"/>
                    <a:lumOff val="50000"/>
                  </a:schemeClr>
                </a:solidFill>
                <a:latin typeface="Calibri" panose="020F0502020204030204" pitchFamily="34" charset="0"/>
                <a:ea typeface="Calibri" panose="020F0502020204030204" pitchFamily="34" charset="0"/>
                <a:cs typeface="Calibri" panose="020F0502020204030204" pitchFamily="34" charset="0"/>
              </a:defRPr>
            </a:pPr>
            <a:r>
              <a:rPr lang="en-US" sz="1400" b="1" cap="none" baseline="0" dirty="0">
                <a:solidFill>
                  <a:schemeClr val="tx2"/>
                </a:solidFill>
              </a:rPr>
              <a:t>Casuals ride classic bikes 2.7x longer than members</a:t>
            </a:r>
          </a:p>
        </c:rich>
      </c:tx>
      <c:layout>
        <c:manualLayout>
          <c:xMode val="edge"/>
          <c:yMode val="edge"/>
          <c:x val="2.3980282614321096E-2"/>
          <c:y val="1.2135922330097087E-2"/>
        </c:manualLayout>
      </c:layout>
      <c:overlay val="0"/>
      <c:spPr>
        <a:noFill/>
        <a:ln>
          <a:noFill/>
        </a:ln>
        <a:effectLst/>
      </c:spPr>
      <c:txPr>
        <a:bodyPr rot="0" spcFirstLastPara="1" vertOverflow="ellipsis" vert="horz" wrap="square" anchor="ctr" anchorCtr="1"/>
        <a:lstStyle/>
        <a:p>
          <a:pPr>
            <a:defRPr sz="1400" b="1" i="0" u="none" strike="noStrike" kern="1200" cap="none" spc="150" baseline="0">
              <a:solidFill>
                <a:schemeClr val="tx1">
                  <a:lumMod val="50000"/>
                  <a:lumOff val="50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0.11727708490450833"/>
          <c:y val="0.17548671236295593"/>
          <c:w val="0.8665844661439539"/>
          <c:h val="0.76059501698098375"/>
        </c:manualLayout>
      </c:layout>
      <c:barChart>
        <c:barDir val="col"/>
        <c:grouping val="clustered"/>
        <c:varyColors val="0"/>
        <c:ser>
          <c:idx val="0"/>
          <c:order val="0"/>
          <c:tx>
            <c:v>casuals</c:v>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Lbls>
            <c:dLbl>
              <c:idx val="0"/>
              <c:layout>
                <c:manualLayout>
                  <c:x val="0"/>
                  <c:y val="2.022653721682847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0B4-4FAA-98C2-0ABF3E8B6037}"/>
                </c:ext>
              </c:extLst>
            </c:dLbl>
            <c:dLbl>
              <c:idx val="1"/>
              <c:layout>
                <c:manualLayout>
                  <c:x val="-1.075887414762253E-16"/>
                  <c:y val="4.045307443365695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0B4-4FAA-98C2-0ABF3E8B6037}"/>
                </c:ext>
              </c:extLst>
            </c:dLbl>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RideType_Data!$A$2:$A$3</c:f>
              <c:strCache>
                <c:ptCount val="2"/>
                <c:pt idx="0">
                  <c:v>classic bike</c:v>
                </c:pt>
                <c:pt idx="1">
                  <c:v>electric bike</c:v>
                </c:pt>
              </c:strCache>
            </c:strRef>
          </c:cat>
          <c:val>
            <c:numRef>
              <c:f>RideType_Data!$D$2:$D$3</c:f>
              <c:numCache>
                <c:formatCode>h:mm:ss</c:formatCode>
                <c:ptCount val="2"/>
                <c:pt idx="0">
                  <c:v>2.6516203703703705E-2</c:v>
                </c:pt>
                <c:pt idx="1">
                  <c:v>9.8495370370370369E-3</c:v>
                </c:pt>
              </c:numCache>
            </c:numRef>
          </c:val>
          <c:extLst>
            <c:ext xmlns:c16="http://schemas.microsoft.com/office/drawing/2014/chart" uri="{C3380CC4-5D6E-409C-BE32-E72D297353CC}">
              <c16:uniqueId val="{00000002-90B4-4FAA-98C2-0ABF3E8B6037}"/>
            </c:ext>
          </c:extLst>
        </c:ser>
        <c:ser>
          <c:idx val="1"/>
          <c:order val="1"/>
          <c:tx>
            <c:v>members</c:v>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dLbls>
            <c:dLbl>
              <c:idx val="0"/>
              <c:layout>
                <c:manualLayout>
                  <c:x val="0"/>
                  <c:y val="6.067961165048543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0B4-4FAA-98C2-0ABF3E8B6037}"/>
                </c:ext>
              </c:extLst>
            </c:dLbl>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RideType_Data!$A$2:$A$3</c:f>
              <c:strCache>
                <c:ptCount val="2"/>
                <c:pt idx="0">
                  <c:v>classic bike</c:v>
                </c:pt>
                <c:pt idx="1">
                  <c:v>electric bike</c:v>
                </c:pt>
              </c:strCache>
            </c:strRef>
          </c:cat>
          <c:val>
            <c:numRef>
              <c:f>RideType_Data!$F$2:$F$3</c:f>
              <c:numCache>
                <c:formatCode>h:mm:ss</c:formatCode>
                <c:ptCount val="2"/>
                <c:pt idx="0">
                  <c:v>9.6990740740740735E-3</c:v>
                </c:pt>
                <c:pt idx="1">
                  <c:v>7.6388888888888886E-3</c:v>
                </c:pt>
              </c:numCache>
            </c:numRef>
          </c:val>
          <c:extLst>
            <c:ext xmlns:c16="http://schemas.microsoft.com/office/drawing/2014/chart" uri="{C3380CC4-5D6E-409C-BE32-E72D297353CC}">
              <c16:uniqueId val="{00000004-90B4-4FAA-98C2-0ABF3E8B6037}"/>
            </c:ext>
          </c:extLst>
        </c:ser>
        <c:dLbls>
          <c:dLblPos val="outEnd"/>
          <c:showLegendKey val="0"/>
          <c:showVal val="1"/>
          <c:showCatName val="0"/>
          <c:showSerName val="0"/>
          <c:showPercent val="0"/>
          <c:showBubbleSize val="0"/>
        </c:dLbls>
        <c:gapWidth val="164"/>
        <c:overlap val="-22"/>
        <c:axId val="1005995279"/>
        <c:axId val="1006005359"/>
      </c:barChart>
      <c:catAx>
        <c:axId val="1005995279"/>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006005359"/>
        <c:crosses val="autoZero"/>
        <c:auto val="1"/>
        <c:lblAlgn val="ctr"/>
        <c:lblOffset val="100"/>
        <c:noMultiLvlLbl val="0"/>
      </c:catAx>
      <c:valAx>
        <c:axId val="1006005359"/>
        <c:scaling>
          <c:orientation val="minMax"/>
          <c:max val="3.1250000000000007E-2"/>
          <c:min val="0"/>
        </c:scaling>
        <c:delete val="0"/>
        <c:axPos val="l"/>
        <c:majorGridlines>
          <c:spPr>
            <a:ln>
              <a:solidFill>
                <a:schemeClr val="tx1">
                  <a:lumMod val="15000"/>
                  <a:lumOff val="85000"/>
                </a:schemeClr>
              </a:solidFill>
            </a:ln>
            <a:effectLst/>
          </c:spPr>
        </c:majorGridlines>
        <c:title>
          <c:tx>
            <c:rich>
              <a:bodyPr rot="0" spcFirstLastPara="1" vertOverflow="ellipsis"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b="1" dirty="0"/>
                  <a:t>Avg duration h:m:s</a:t>
                </a:r>
              </a:p>
            </c:rich>
          </c:tx>
          <c:layout>
            <c:manualLayout>
              <c:xMode val="edge"/>
              <c:yMode val="edge"/>
              <c:x val="2.5527573098409462E-2"/>
              <c:y val="6.7952661916863277E-2"/>
            </c:manualLayout>
          </c:layout>
          <c:overlay val="0"/>
          <c:spPr>
            <a:noFill/>
            <a:ln>
              <a:noFill/>
            </a:ln>
            <a:effectLst/>
          </c:spPr>
          <c:txPr>
            <a:bodyPr rot="0" spcFirstLastPara="1" vertOverflow="ellipsis"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h:mm:ss"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005995279"/>
        <c:crosses val="autoZero"/>
        <c:crossBetween val="between"/>
        <c:majorUnit val="3.4722222222220013E-3"/>
      </c:valAx>
      <c:spPr>
        <a:noFill/>
        <a:ln>
          <a:noFill/>
        </a:ln>
        <a:effectLst/>
      </c:spPr>
    </c:plotArea>
    <c:legend>
      <c:legendPos val="t"/>
      <c:layout>
        <c:manualLayout>
          <c:xMode val="edge"/>
          <c:yMode val="edge"/>
          <c:x val="0.77555612546671115"/>
          <c:y val="6.0629124939479653E-2"/>
          <c:w val="0.19712707016376477"/>
          <c:h val="5.4562987292644242E-2"/>
        </c:manualLayout>
      </c:layout>
      <c:overlay val="1"/>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chart>
  <c:spPr>
    <a:noFill/>
    <a:ln w="9525" cap="flat" cmpd="sng" algn="ctr">
      <a:noFill/>
      <a:round/>
    </a:ln>
    <a:effectLst/>
  </c:spPr>
  <c:txPr>
    <a:bodyPr/>
    <a:lstStyle/>
    <a:p>
      <a:pPr>
        <a:defRPr sz="1100" b="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800" b="1" i="0" u="none" strike="noStrike" kern="1200" cap="none" spc="150" baseline="0">
                <a:solidFill>
                  <a:schemeClr val="tx2"/>
                </a:solidFill>
                <a:latin typeface="Calibri" panose="020F0502020204030204" pitchFamily="34" charset="0"/>
                <a:ea typeface="Calibri" panose="020F0502020204030204" pitchFamily="34" charset="0"/>
                <a:cs typeface="Calibri" panose="020F0502020204030204" pitchFamily="34" charset="0"/>
              </a:defRPr>
            </a:pPr>
            <a:r>
              <a:rPr lang="en-US" sz="1800" cap="none" baseline="0">
                <a:solidFill>
                  <a:schemeClr val="tx2"/>
                </a:solidFill>
              </a:rPr>
              <a:t>Members dominate the commuting hours</a:t>
            </a:r>
          </a:p>
        </c:rich>
      </c:tx>
      <c:layout>
        <c:manualLayout>
          <c:xMode val="edge"/>
          <c:yMode val="edge"/>
          <c:x val="2.7662794351410305E-2"/>
          <c:y val="1.2135922330097087E-2"/>
        </c:manualLayout>
      </c:layout>
      <c:overlay val="0"/>
      <c:spPr>
        <a:noFill/>
        <a:ln>
          <a:noFill/>
        </a:ln>
        <a:effectLst/>
      </c:spPr>
      <c:txPr>
        <a:bodyPr rot="0" spcFirstLastPara="1" vertOverflow="ellipsis" vert="horz" wrap="square" anchor="ctr" anchorCtr="1"/>
        <a:lstStyle/>
        <a:p>
          <a:pPr algn="l">
            <a:defRPr sz="1800" b="1" i="0" u="none" strike="noStrike" kern="1200" cap="none" spc="150" baseline="0">
              <a:solidFill>
                <a:schemeClr val="tx2"/>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8.8807179331424083E-2"/>
          <c:y val="0.14775845958185735"/>
          <c:w val="0.8950544364541696"/>
          <c:h val="0.75030324006087323"/>
        </c:manualLayout>
      </c:layout>
      <c:lineChart>
        <c:grouping val="standard"/>
        <c:varyColors val="0"/>
        <c:ser>
          <c:idx val="0"/>
          <c:order val="0"/>
          <c:tx>
            <c:v>casuals</c:v>
          </c:tx>
          <c:spPr>
            <a:ln w="38100" cap="flat" cmpd="dbl" algn="ctr">
              <a:solidFill>
                <a:schemeClr val="accent1"/>
              </a:solidFill>
              <a:miter lim="800000"/>
            </a:ln>
            <a:effectLst/>
          </c:spPr>
          <c:marker>
            <c:symbol val="none"/>
          </c:marker>
          <c:dLbls>
            <c:dLbl>
              <c:idx val="8"/>
              <c:layout>
                <c:manualLayout>
                  <c:x val="-3.8086927202488435E-2"/>
                  <c:y val="-8.5999294929513748E-2"/>
                </c:manualLayout>
              </c:layout>
              <c:tx>
                <c:rich>
                  <a:bodyPr rot="0" spcFirstLastPara="1" vertOverflow="clip" horzOverflow="clip" vert="horz" wrap="square" lIns="36576" tIns="18288" rIns="36576" bIns="18288" anchor="ctr" anchorCtr="1">
                    <a:spAutoFit/>
                  </a:bodyPr>
                  <a:lstStyle/>
                  <a:p>
                    <a:pPr>
                      <a:defRPr sz="1100" b="0" i="0" u="none" strike="noStrike" kern="1200" baseline="0">
                        <a:solidFill>
                          <a:schemeClr val="dk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fld id="{098D45A1-5D60-4ADD-B5A2-C97FD344B73E}" type="VALUE">
                      <a:rPr lang="en-US"/>
                      <a:pPr>
                        <a:defRPr/>
                      </a:pPr>
                      <a:t>[VALUE]</a:t>
                    </a:fld>
                    <a:r>
                      <a:rPr lang="en-US"/>
                      <a:t>K</a:t>
                    </a:r>
                  </a:p>
                </c:rich>
              </c:tx>
              <c:numFmt formatCode="#,##0" sourceLinked="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6576" tIns="18288" rIns="36576" bIns="18288" anchor="ctr" anchorCtr="1">
                  <a:spAutoFit/>
                </a:bodyPr>
                <a:lstStyle/>
                <a:p>
                  <a:pPr>
                    <a:defRPr sz="1100" b="0" i="0" u="none" strike="noStrike" kern="1200" baseline="0">
                      <a:solidFill>
                        <a:schemeClr val="dk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B0F2-44C7-A88B-6BEFF329F150}"/>
                </c:ext>
              </c:extLst>
            </c:dLbl>
            <c:dLbl>
              <c:idx val="17"/>
              <c:layout>
                <c:manualLayout>
                  <c:x val="-3.8589996462537614E-2"/>
                  <c:y val="-8.8059121125502085E-2"/>
                </c:manualLayout>
              </c:layout>
              <c:tx>
                <c:rich>
                  <a:bodyPr rot="0" spcFirstLastPara="1" vertOverflow="clip" horzOverflow="clip" vert="horz" wrap="square" lIns="36576" tIns="18288" rIns="36576" bIns="18288" anchor="ctr" anchorCtr="1">
                    <a:spAutoFit/>
                  </a:bodyPr>
                  <a:lstStyle/>
                  <a:p>
                    <a:pPr>
                      <a:defRPr sz="1100" b="0" i="0" u="none" strike="noStrike" kern="1200" baseline="0">
                        <a:solidFill>
                          <a:schemeClr val="dk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fld id="{BC60D144-3D1C-42F1-94F7-4E23D3A27F26}" type="VALUE">
                      <a:rPr lang="en-US"/>
                      <a:pPr>
                        <a:defRPr/>
                      </a:pPr>
                      <a:t>[VALUE]</a:t>
                    </a:fld>
                    <a:r>
                      <a:rPr lang="en-US"/>
                      <a:t>K</a:t>
                    </a:r>
                  </a:p>
                </c:rich>
              </c:tx>
              <c:numFmt formatCode="#,##0" sourceLinked="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6576" tIns="18288" rIns="36576" bIns="18288" anchor="ctr" anchorCtr="1">
                  <a:spAutoFit/>
                </a:bodyPr>
                <a:lstStyle/>
                <a:p>
                  <a:pPr>
                    <a:defRPr sz="1100" b="0" i="0" u="none" strike="noStrike" kern="1200" baseline="0">
                      <a:solidFill>
                        <a:schemeClr val="dk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B0F2-44C7-A88B-6BEFF329F150}"/>
                </c:ext>
              </c:extLst>
            </c:dLbl>
            <c:numFmt formatCode="#,##0" sourceLinked="0"/>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Hourly_Data!$A$2:$A$25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Hourly_Data!$B$2:$B$25</c:f>
              <c:numCache>
                <c:formatCode>General</c:formatCode>
                <c:ptCount val="24"/>
                <c:pt idx="0">
                  <c:v>37849</c:v>
                </c:pt>
                <c:pt idx="1">
                  <c:v>24577</c:v>
                </c:pt>
                <c:pt idx="2">
                  <c:v>15876</c:v>
                </c:pt>
                <c:pt idx="3">
                  <c:v>8834</c:v>
                </c:pt>
                <c:pt idx="4">
                  <c:v>7036</c:v>
                </c:pt>
                <c:pt idx="5">
                  <c:v>11547</c:v>
                </c:pt>
                <c:pt idx="6">
                  <c:v>27293</c:v>
                </c:pt>
                <c:pt idx="7">
                  <c:v>50023</c:v>
                </c:pt>
                <c:pt idx="8">
                  <c:v>72034</c:v>
                </c:pt>
                <c:pt idx="9">
                  <c:v>71419</c:v>
                </c:pt>
                <c:pt idx="10">
                  <c:v>86638</c:v>
                </c:pt>
                <c:pt idx="11">
                  <c:v>110246</c:v>
                </c:pt>
                <c:pt idx="12">
                  <c:v>128276</c:v>
                </c:pt>
                <c:pt idx="13">
                  <c:v>132459</c:v>
                </c:pt>
                <c:pt idx="14">
                  <c:v>139227</c:v>
                </c:pt>
                <c:pt idx="15">
                  <c:v>155069</c:v>
                </c:pt>
                <c:pt idx="16">
                  <c:v>175375</c:v>
                </c:pt>
                <c:pt idx="17">
                  <c:v>188156</c:v>
                </c:pt>
                <c:pt idx="18">
                  <c:v>161431</c:v>
                </c:pt>
                <c:pt idx="19">
                  <c:v>119809</c:v>
                </c:pt>
                <c:pt idx="20">
                  <c:v>87035</c:v>
                </c:pt>
                <c:pt idx="21">
                  <c:v>73733</c:v>
                </c:pt>
                <c:pt idx="22">
                  <c:v>63080</c:v>
                </c:pt>
                <c:pt idx="23">
                  <c:v>45082</c:v>
                </c:pt>
              </c:numCache>
            </c:numRef>
          </c:val>
          <c:smooth val="0"/>
          <c:extLst>
            <c:ext xmlns:c16="http://schemas.microsoft.com/office/drawing/2014/chart" uri="{C3380CC4-5D6E-409C-BE32-E72D297353CC}">
              <c16:uniqueId val="{00000002-B0F2-44C7-A88B-6BEFF329F150}"/>
            </c:ext>
          </c:extLst>
        </c:ser>
        <c:ser>
          <c:idx val="1"/>
          <c:order val="1"/>
          <c:tx>
            <c:v>members</c:v>
          </c:tx>
          <c:spPr>
            <a:ln w="38100" cap="flat" cmpd="dbl" algn="ctr">
              <a:solidFill>
                <a:schemeClr val="accent2"/>
              </a:solidFill>
              <a:miter lim="800000"/>
            </a:ln>
            <a:effectLst/>
          </c:spPr>
          <c:marker>
            <c:symbol val="none"/>
          </c:marker>
          <c:dLbls>
            <c:dLbl>
              <c:idx val="8"/>
              <c:layout>
                <c:manualLayout>
                  <c:x val="-4.1565556315609736E-2"/>
                  <c:y val="0.15254319475986455"/>
                </c:manualLayout>
              </c:layout>
              <c:tx>
                <c:rich>
                  <a:bodyPr rot="0" spcFirstLastPara="1" vertOverflow="clip" horzOverflow="clip" vert="horz" wrap="square" lIns="36576" tIns="18288" rIns="36576" bIns="18288" anchor="ctr" anchorCtr="1">
                    <a:spAutoFit/>
                  </a:bodyPr>
                  <a:lstStyle/>
                  <a:p>
                    <a:pPr>
                      <a:defRPr sz="1100" b="0" i="0" u="none" strike="noStrike" kern="1200" baseline="0">
                        <a:solidFill>
                          <a:schemeClr val="dk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fld id="{5D20A92E-1BF3-494F-A0C9-6BB24118D790}" type="VALUE">
                      <a:rPr lang="en-US"/>
                      <a:pPr>
                        <a:defRPr/>
                      </a:pPr>
                      <a:t>[VALUE]</a:t>
                    </a:fld>
                    <a:r>
                      <a:rPr lang="en-US"/>
                      <a:t>K</a:t>
                    </a:r>
                  </a:p>
                </c:rich>
              </c:tx>
              <c:numFmt formatCode="#,##0" sourceLinked="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6576" tIns="18288" rIns="36576" bIns="18288" anchor="ctr" anchorCtr="1">
                  <a:spAutoFit/>
                </a:bodyPr>
                <a:lstStyle/>
                <a:p>
                  <a:pPr>
                    <a:defRPr sz="1100" b="0" i="0" u="none" strike="noStrike" kern="1200" baseline="0">
                      <a:solidFill>
                        <a:schemeClr val="dk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B0F2-44C7-A88B-6BEFF329F150}"/>
                </c:ext>
              </c:extLst>
            </c:dLbl>
            <c:dLbl>
              <c:idx val="17"/>
              <c:layout>
                <c:manualLayout>
                  <c:x val="-4.5045380012904493E-2"/>
                  <c:y val="0.14464608357245518"/>
                </c:manualLayout>
              </c:layout>
              <c:tx>
                <c:rich>
                  <a:bodyPr rot="0" spcFirstLastPara="1" vertOverflow="clip" horzOverflow="clip" vert="horz" wrap="square" lIns="36576" tIns="18288" rIns="36576" bIns="18288" anchor="ctr" anchorCtr="1">
                    <a:spAutoFit/>
                  </a:bodyPr>
                  <a:lstStyle/>
                  <a:p>
                    <a:pPr>
                      <a:defRPr sz="1100" b="0" i="0" u="none" strike="noStrike" kern="1200" baseline="0">
                        <a:solidFill>
                          <a:schemeClr val="dk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fld id="{35806019-ABE6-402A-B1D3-D37F1C409D9D}" type="VALUE">
                      <a:rPr lang="en-US"/>
                      <a:pPr>
                        <a:defRPr/>
                      </a:pPr>
                      <a:t>[VALUE]</a:t>
                    </a:fld>
                    <a:r>
                      <a:rPr lang="en-US"/>
                      <a:t>K</a:t>
                    </a:r>
                  </a:p>
                </c:rich>
              </c:tx>
              <c:numFmt formatCode="#,##0" sourceLinked="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6576" tIns="18288" rIns="36576" bIns="18288" anchor="ctr" anchorCtr="1">
                  <a:spAutoFit/>
                </a:bodyPr>
                <a:lstStyle/>
                <a:p>
                  <a:pPr>
                    <a:defRPr sz="1100" b="0" i="0" u="none" strike="noStrike" kern="1200" baseline="0">
                      <a:solidFill>
                        <a:schemeClr val="dk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4-B0F2-44C7-A88B-6BEFF329F150}"/>
                </c:ext>
              </c:extLst>
            </c:dLbl>
            <c:numFmt formatCode="#,##0" sourceLinked="0"/>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Hourly_Data!$A$2:$A$25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Hourly_Data!$C$2:$C$25</c:f>
              <c:numCache>
                <c:formatCode>General</c:formatCode>
                <c:ptCount val="24"/>
                <c:pt idx="0">
                  <c:v>32241</c:v>
                </c:pt>
                <c:pt idx="1">
                  <c:v>20144</c:v>
                </c:pt>
                <c:pt idx="2">
                  <c:v>11918</c:v>
                </c:pt>
                <c:pt idx="3">
                  <c:v>8094</c:v>
                </c:pt>
                <c:pt idx="4">
                  <c:v>8891</c:v>
                </c:pt>
                <c:pt idx="5">
                  <c:v>33348</c:v>
                </c:pt>
                <c:pt idx="6">
                  <c:v>99865</c:v>
                </c:pt>
                <c:pt idx="7">
                  <c:v>196729</c:v>
                </c:pt>
                <c:pt idx="8">
                  <c:v>253114</c:v>
                </c:pt>
                <c:pt idx="9">
                  <c:v>167954</c:v>
                </c:pt>
                <c:pt idx="10">
                  <c:v>144270</c:v>
                </c:pt>
                <c:pt idx="11">
                  <c:v>169036</c:v>
                </c:pt>
                <c:pt idx="12">
                  <c:v>189753</c:v>
                </c:pt>
                <c:pt idx="13">
                  <c:v>185170</c:v>
                </c:pt>
                <c:pt idx="14">
                  <c:v>187668</c:v>
                </c:pt>
                <c:pt idx="15">
                  <c:v>234740</c:v>
                </c:pt>
                <c:pt idx="16">
                  <c:v>328490</c:v>
                </c:pt>
                <c:pt idx="17">
                  <c:v>373058</c:v>
                </c:pt>
                <c:pt idx="18">
                  <c:v>288891</c:v>
                </c:pt>
                <c:pt idx="19">
                  <c:v>200418</c:v>
                </c:pt>
                <c:pt idx="20">
                  <c:v>139223</c:v>
                </c:pt>
                <c:pt idx="21">
                  <c:v>108257</c:v>
                </c:pt>
                <c:pt idx="22">
                  <c:v>78444</c:v>
                </c:pt>
                <c:pt idx="23">
                  <c:v>49485</c:v>
                </c:pt>
              </c:numCache>
            </c:numRef>
          </c:val>
          <c:smooth val="0"/>
          <c:extLst>
            <c:ext xmlns:c16="http://schemas.microsoft.com/office/drawing/2014/chart" uri="{C3380CC4-5D6E-409C-BE32-E72D297353CC}">
              <c16:uniqueId val="{00000005-B0F2-44C7-A88B-6BEFF329F150}"/>
            </c:ext>
          </c:extLst>
        </c:ser>
        <c:dLbls>
          <c:showLegendKey val="0"/>
          <c:showVal val="0"/>
          <c:showCatName val="0"/>
          <c:showSerName val="0"/>
          <c:showPercent val="0"/>
          <c:showBubbleSize val="0"/>
        </c:dLbls>
        <c:smooth val="0"/>
        <c:axId val="880273440"/>
        <c:axId val="880275360"/>
      </c:lineChart>
      <c:catAx>
        <c:axId val="880273440"/>
        <c:scaling>
          <c:orientation val="minMax"/>
        </c:scaling>
        <c:delete val="0"/>
        <c:axPos val="b"/>
        <c:title>
          <c:tx>
            <c:rich>
              <a:bodyPr rot="0" spcFirstLastPara="1" vertOverflow="ellipsis" vert="horz" wrap="square" anchor="ctr" anchorCtr="1"/>
              <a:lstStyle/>
              <a:p>
                <a:pPr>
                  <a:defRPr sz="1100" b="1" i="0" u="none" strike="noStrike" kern="1200" cap="none"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b="1" cap="none" baseline="0"/>
                  <a:t>Hour of day</a:t>
                </a:r>
              </a:p>
            </c:rich>
          </c:tx>
          <c:overlay val="0"/>
          <c:spPr>
            <a:noFill/>
            <a:ln>
              <a:noFill/>
            </a:ln>
            <a:effectLst/>
          </c:spPr>
          <c:txPr>
            <a:bodyPr rot="0" spcFirstLastPara="1" vertOverflow="ellipsis" vert="horz" wrap="square" anchor="ctr" anchorCtr="1"/>
            <a:lstStyle/>
            <a:p>
              <a:pPr>
                <a:defRPr sz="1100" b="1" i="0" u="none" strike="noStrike" kern="1200" cap="none"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80275360"/>
        <c:crosses val="autoZero"/>
        <c:auto val="1"/>
        <c:lblAlgn val="ctr"/>
        <c:lblOffset val="100"/>
        <c:noMultiLvlLbl val="0"/>
      </c:catAx>
      <c:valAx>
        <c:axId val="880275360"/>
        <c:scaling>
          <c:orientation val="minMax"/>
        </c:scaling>
        <c:delete val="0"/>
        <c:axPos val="l"/>
        <c:majorGridlines>
          <c:spPr>
            <a:ln w="9525" cap="flat" cmpd="sng" algn="ctr">
              <a:solidFill>
                <a:schemeClr val="tx1">
                  <a:lumMod val="15000"/>
                  <a:lumOff val="85000"/>
                  <a:alpha val="32000"/>
                </a:schemeClr>
              </a:solidFill>
              <a:round/>
            </a:ln>
            <a:effectLst/>
          </c:spPr>
        </c:majorGridlines>
        <c:numFmt formatCode="General" sourceLinked="1"/>
        <c:majorTickMark val="none"/>
        <c:minorTickMark val="none"/>
        <c:tickLblPos val="nextTo"/>
        <c:spPr>
          <a:noFill/>
          <a:ln w="3175" cap="flat" cmpd="sng" algn="ctr">
            <a:noFill/>
            <a:round/>
            <a:tailEnd type="none" w="med" len="lg"/>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80273440"/>
        <c:crosses val="autoZero"/>
        <c:crossBetween val="between"/>
        <c:dispUnits>
          <c:builtInUnit val="thousands"/>
          <c:dispUnitsLbl>
            <c:layout>
              <c:manualLayout>
                <c:xMode val="edge"/>
                <c:yMode val="edge"/>
                <c:x val="3.0809890103229012E-2"/>
                <c:y val="7.2051171386824001E-2"/>
              </c:manualLayout>
            </c:layout>
            <c:tx>
              <c:rich>
                <a:bodyPr rot="0" spcFirstLastPara="1" vertOverflow="ellipsis" wrap="square" anchor="ctr" anchorCtr="1"/>
                <a:lstStyle/>
                <a:p>
                  <a:pPr>
                    <a:defRPr sz="1100" b="1" i="0" u="none" strike="noStrike" kern="1200" cap="none"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b="1" cap="none" baseline="0"/>
                    <a:t>Ride count K</a:t>
                  </a:r>
                </a:p>
              </c:rich>
            </c:tx>
            <c:spPr>
              <a:noFill/>
              <a:ln>
                <a:noFill/>
              </a:ln>
              <a:effectLst/>
            </c:spPr>
            <c:txPr>
              <a:bodyPr rot="0" spcFirstLastPara="1" vertOverflow="ellipsis" wrap="square" anchor="ctr" anchorCtr="1"/>
              <a:lstStyle/>
              <a:p>
                <a:pPr>
                  <a:defRPr sz="1100" b="1" i="0" u="none" strike="noStrike" kern="1200" cap="none"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ispUnitsLbl>
        </c:dispUnits>
      </c:valAx>
      <c:spPr>
        <a:noFill/>
        <a:ln>
          <a:noFill/>
        </a:ln>
        <a:effectLst/>
      </c:spPr>
    </c:plotArea>
    <c:legend>
      <c:legendPos val="t"/>
      <c:layout>
        <c:manualLayout>
          <c:xMode val="edge"/>
          <c:yMode val="edge"/>
          <c:x val="0.67254368896728567"/>
          <c:y val="7.880633497099053E-2"/>
          <c:w val="0.25944033266049599"/>
          <c:h val="4.5807059805512688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chart>
  <c:spPr>
    <a:noFill/>
    <a:ln w="9525" cap="flat" cmpd="sng" algn="ctr">
      <a:noFill/>
      <a:round/>
    </a:ln>
    <a:effectLst/>
  </c:spPr>
  <c:txPr>
    <a:bodyPr/>
    <a:lstStyle/>
    <a:p>
      <a:pPr>
        <a:defRPr sz="11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1" i="0" u="none" strike="noStrike" kern="1200" cap="none" spc="150" baseline="0">
                <a:solidFill>
                  <a:schemeClr val="tx2"/>
                </a:solidFill>
                <a:latin typeface="Calibri" panose="020F0502020204030204" pitchFamily="34" charset="0"/>
                <a:ea typeface="Calibri" panose="020F0502020204030204" pitchFamily="34" charset="0"/>
                <a:cs typeface="Calibri" panose="020F0502020204030204" pitchFamily="34" charset="0"/>
              </a:defRPr>
            </a:pPr>
            <a:r>
              <a:rPr lang="en-US" sz="1500" cap="none" baseline="0" dirty="0">
                <a:solidFill>
                  <a:schemeClr val="tx2"/>
                </a:solidFill>
              </a:rPr>
              <a:t>Casuals stay in the saddle longer regardless of hour</a:t>
            </a:r>
          </a:p>
        </c:rich>
      </c:tx>
      <c:layout>
        <c:manualLayout>
          <c:xMode val="edge"/>
          <c:yMode val="edge"/>
          <c:x val="1.6039379320542679E-2"/>
          <c:y val="1.2135922330097087E-2"/>
        </c:manualLayout>
      </c:layout>
      <c:overlay val="0"/>
      <c:spPr>
        <a:noFill/>
        <a:ln>
          <a:noFill/>
        </a:ln>
        <a:effectLst/>
      </c:spPr>
      <c:txPr>
        <a:bodyPr rot="0" spcFirstLastPara="1" vertOverflow="ellipsis" vert="horz" wrap="square" anchor="ctr" anchorCtr="1"/>
        <a:lstStyle/>
        <a:p>
          <a:pPr algn="l">
            <a:defRPr sz="1400" b="1" i="0" u="none" strike="noStrike" kern="1200" cap="none" spc="150" baseline="0">
              <a:solidFill>
                <a:schemeClr val="tx2"/>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0.11332802882282063"/>
          <c:y val="0.15561857065573853"/>
          <c:w val="0.87053354492895707"/>
          <c:h val="0.73368743131423031"/>
        </c:manualLayout>
      </c:layout>
      <c:lineChart>
        <c:grouping val="standard"/>
        <c:varyColors val="0"/>
        <c:ser>
          <c:idx val="0"/>
          <c:order val="0"/>
          <c:tx>
            <c:v>casuals</c:v>
          </c:tx>
          <c:spPr>
            <a:ln w="38100" cap="flat" cmpd="dbl" algn="ctr">
              <a:solidFill>
                <a:schemeClr val="accent1"/>
              </a:solidFill>
              <a:miter lim="800000"/>
            </a:ln>
            <a:effectLst/>
          </c:spPr>
          <c:marker>
            <c:symbol val="none"/>
          </c:marker>
          <c:dLbls>
            <c:dLbl>
              <c:idx val="3"/>
              <c:layout>
                <c:manualLayout>
                  <c:x val="-1.8222521140783366E-2"/>
                  <c:y val="-7.7676797343713619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6576" tIns="18288" rIns="36576" bIns="18288" anchor="ctr" anchorCtr="1">
                  <a:spAutoFit/>
                </a:bodyPr>
                <a:lstStyle/>
                <a:p>
                  <a:pPr>
                    <a:defRPr sz="1100" b="0" i="0" u="none" strike="noStrike" kern="1200" baseline="0">
                      <a:solidFill>
                        <a:schemeClr val="dk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0-1D45-4062-B80D-B9015327BA1D}"/>
                </c:ext>
              </c:extLst>
            </c:dLbl>
            <c:dLbl>
              <c:idx val="10"/>
              <c:layout>
                <c:manualLayout>
                  <c:x val="-9.6483611648729289E-2"/>
                  <c:y val="-7.296606239276289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6576" tIns="18288" rIns="36576" bIns="18288" anchor="ctr" anchorCtr="1">
                  <a:spAutoFit/>
                </a:bodyPr>
                <a:lstStyle/>
                <a:p>
                  <a:pPr>
                    <a:defRPr sz="1100" b="0" i="0" u="none" strike="noStrike" kern="1200" baseline="0">
                      <a:solidFill>
                        <a:schemeClr val="dk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1D45-4062-B80D-B9015327BA1D}"/>
                </c:ext>
              </c:extLst>
            </c:dLbl>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Hourly_Data!$A$2:$A$25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Hourly_Data!$D$2:$D$25</c:f>
              <c:numCache>
                <c:formatCode>h:mm:ss</c:formatCode>
                <c:ptCount val="24"/>
                <c:pt idx="0">
                  <c:v>1.5787037037037037E-2</c:v>
                </c:pt>
                <c:pt idx="1">
                  <c:v>1.579861111111111E-2</c:v>
                </c:pt>
                <c:pt idx="2">
                  <c:v>1.6180555555555556E-2</c:v>
                </c:pt>
                <c:pt idx="3">
                  <c:v>1.9537037037037037E-2</c:v>
                </c:pt>
                <c:pt idx="4">
                  <c:v>1.425925925925926E-2</c:v>
                </c:pt>
                <c:pt idx="5">
                  <c:v>1.1168981481481481E-2</c:v>
                </c:pt>
                <c:pt idx="6">
                  <c:v>1.1423611111111112E-2</c:v>
                </c:pt>
                <c:pt idx="7">
                  <c:v>1.1516203703703704E-2</c:v>
                </c:pt>
                <c:pt idx="8">
                  <c:v>1.2638888888888889E-2</c:v>
                </c:pt>
                <c:pt idx="9">
                  <c:v>1.6527777777777777E-2</c:v>
                </c:pt>
                <c:pt idx="10">
                  <c:v>1.9305555555555555E-2</c:v>
                </c:pt>
                <c:pt idx="11">
                  <c:v>1.9143518518518518E-2</c:v>
                </c:pt>
                <c:pt idx="12">
                  <c:v>1.8391203703703705E-2</c:v>
                </c:pt>
                <c:pt idx="13">
                  <c:v>1.8263888888888889E-2</c:v>
                </c:pt>
                <c:pt idx="14">
                  <c:v>1.8379629629629631E-2</c:v>
                </c:pt>
                <c:pt idx="15">
                  <c:v>1.6770833333333332E-2</c:v>
                </c:pt>
                <c:pt idx="16">
                  <c:v>1.5856481481481482E-2</c:v>
                </c:pt>
                <c:pt idx="17">
                  <c:v>1.5509259259259259E-2</c:v>
                </c:pt>
                <c:pt idx="18">
                  <c:v>1.5347222222222222E-2</c:v>
                </c:pt>
                <c:pt idx="19">
                  <c:v>1.5243055555555555E-2</c:v>
                </c:pt>
                <c:pt idx="20">
                  <c:v>1.4907407407407407E-2</c:v>
                </c:pt>
                <c:pt idx="21">
                  <c:v>1.4456018518518519E-2</c:v>
                </c:pt>
                <c:pt idx="22">
                  <c:v>1.4583333333333334E-2</c:v>
                </c:pt>
                <c:pt idx="23">
                  <c:v>1.5266203703703704E-2</c:v>
                </c:pt>
              </c:numCache>
            </c:numRef>
          </c:val>
          <c:smooth val="0"/>
          <c:extLst>
            <c:ext xmlns:c16="http://schemas.microsoft.com/office/drawing/2014/chart" uri="{C3380CC4-5D6E-409C-BE32-E72D297353CC}">
              <c16:uniqueId val="{00000002-1D45-4062-B80D-B9015327BA1D}"/>
            </c:ext>
          </c:extLst>
        </c:ser>
        <c:ser>
          <c:idx val="1"/>
          <c:order val="1"/>
          <c:tx>
            <c:v>members</c:v>
          </c:tx>
          <c:spPr>
            <a:ln w="38100" cap="flat" cmpd="dbl" algn="ctr">
              <a:solidFill>
                <a:schemeClr val="accent2"/>
              </a:solidFill>
              <a:miter lim="800000"/>
            </a:ln>
            <a:effectLst/>
          </c:spPr>
          <c:marker>
            <c:symbol val="none"/>
          </c:marker>
          <c:cat>
            <c:numRef>
              <c:f>Hourly_Data!$A$2:$A$25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Hourly_Data!$F$2:$F$25</c:f>
              <c:numCache>
                <c:formatCode>h:mm:ss</c:formatCode>
                <c:ptCount val="24"/>
                <c:pt idx="0">
                  <c:v>8.1250000000000003E-3</c:v>
                </c:pt>
                <c:pt idx="1">
                  <c:v>8.1481481481481474E-3</c:v>
                </c:pt>
                <c:pt idx="2">
                  <c:v>8.3101851851851843E-3</c:v>
                </c:pt>
                <c:pt idx="3">
                  <c:v>9.0277777777777769E-3</c:v>
                </c:pt>
                <c:pt idx="4">
                  <c:v>8.1828703703703699E-3</c:v>
                </c:pt>
                <c:pt idx="5">
                  <c:v>7.6967592592592591E-3</c:v>
                </c:pt>
                <c:pt idx="6">
                  <c:v>7.8125E-3</c:v>
                </c:pt>
                <c:pt idx="7">
                  <c:v>7.789351851851852E-3</c:v>
                </c:pt>
                <c:pt idx="8">
                  <c:v>7.8009259259259256E-3</c:v>
                </c:pt>
                <c:pt idx="9">
                  <c:v>7.7314814814814815E-3</c:v>
                </c:pt>
                <c:pt idx="10">
                  <c:v>8.4143518518518517E-3</c:v>
                </c:pt>
                <c:pt idx="11">
                  <c:v>8.4953703703703701E-3</c:v>
                </c:pt>
                <c:pt idx="12">
                  <c:v>8.1828703703703699E-3</c:v>
                </c:pt>
                <c:pt idx="13">
                  <c:v>8.2754629629629636E-3</c:v>
                </c:pt>
                <c:pt idx="14">
                  <c:v>8.7500000000000008E-3</c:v>
                </c:pt>
                <c:pt idx="15">
                  <c:v>8.726851851851852E-3</c:v>
                </c:pt>
                <c:pt idx="16">
                  <c:v>8.86574074074074E-3</c:v>
                </c:pt>
                <c:pt idx="17">
                  <c:v>9.0277777777777769E-3</c:v>
                </c:pt>
                <c:pt idx="18">
                  <c:v>8.7847222222222215E-3</c:v>
                </c:pt>
                <c:pt idx="19">
                  <c:v>8.6458333333333335E-3</c:v>
                </c:pt>
                <c:pt idx="20">
                  <c:v>8.518518518518519E-3</c:v>
                </c:pt>
                <c:pt idx="21">
                  <c:v>8.3912037037037045E-3</c:v>
                </c:pt>
                <c:pt idx="22">
                  <c:v>8.4953703703703701E-3</c:v>
                </c:pt>
                <c:pt idx="23">
                  <c:v>8.6342592592592599E-3</c:v>
                </c:pt>
              </c:numCache>
            </c:numRef>
          </c:val>
          <c:smooth val="0"/>
          <c:extLst>
            <c:ext xmlns:c16="http://schemas.microsoft.com/office/drawing/2014/chart" uri="{C3380CC4-5D6E-409C-BE32-E72D297353CC}">
              <c16:uniqueId val="{00000003-1D45-4062-B80D-B9015327BA1D}"/>
            </c:ext>
          </c:extLst>
        </c:ser>
        <c:dLbls>
          <c:showLegendKey val="0"/>
          <c:showVal val="0"/>
          <c:showCatName val="0"/>
          <c:showSerName val="0"/>
          <c:showPercent val="0"/>
          <c:showBubbleSize val="0"/>
        </c:dLbls>
        <c:smooth val="0"/>
        <c:axId val="880273440"/>
        <c:axId val="880275360"/>
      </c:lineChart>
      <c:catAx>
        <c:axId val="880273440"/>
        <c:scaling>
          <c:orientation val="minMax"/>
        </c:scaling>
        <c:delete val="0"/>
        <c:axPos val="b"/>
        <c:title>
          <c:tx>
            <c:rich>
              <a:bodyPr rot="0" spcFirstLastPara="1" vertOverflow="ellipsis" vert="horz" wrap="square" anchor="ctr" anchorCtr="1"/>
              <a:lstStyle/>
              <a:p>
                <a:pPr>
                  <a:defRPr sz="1100" b="1" i="0" u="none" strike="noStrike" kern="1200" cap="none"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b="1" cap="none" baseline="0"/>
                  <a:t>Hour of day</a:t>
                </a:r>
              </a:p>
            </c:rich>
          </c:tx>
          <c:overlay val="0"/>
          <c:spPr>
            <a:noFill/>
            <a:ln>
              <a:noFill/>
            </a:ln>
            <a:effectLst/>
          </c:spPr>
          <c:txPr>
            <a:bodyPr rot="0" spcFirstLastPara="1" vertOverflow="ellipsis" vert="horz" wrap="square" anchor="ctr" anchorCtr="1"/>
            <a:lstStyle/>
            <a:p>
              <a:pPr>
                <a:defRPr sz="1100" b="1" i="0" u="none" strike="noStrike" kern="1200" cap="none"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80275360"/>
        <c:crosses val="autoZero"/>
        <c:auto val="1"/>
        <c:lblAlgn val="ctr"/>
        <c:lblOffset val="100"/>
        <c:noMultiLvlLbl val="0"/>
      </c:catAx>
      <c:valAx>
        <c:axId val="880275360"/>
        <c:scaling>
          <c:orientation val="minMax"/>
          <c:max val="2.4305555555555563E-2"/>
          <c:min val="0"/>
        </c:scaling>
        <c:delete val="0"/>
        <c:axPos val="l"/>
        <c:majorGridlines>
          <c:spPr>
            <a:ln w="9525" cap="flat" cmpd="sng" algn="ctr">
              <a:solidFill>
                <a:schemeClr val="tx1">
                  <a:lumMod val="15000"/>
                  <a:lumOff val="85000"/>
                  <a:alpha val="32000"/>
                </a:schemeClr>
              </a:solidFill>
              <a:round/>
            </a:ln>
            <a:effectLst/>
          </c:spPr>
        </c:majorGridlines>
        <c:minorGridlines>
          <c:spPr>
            <a:ln>
              <a:solidFill>
                <a:schemeClr val="tx1">
                  <a:lumMod val="5000"/>
                  <a:lumOff val="95000"/>
                  <a:alpha val="32000"/>
                </a:schemeClr>
              </a:solidFill>
            </a:ln>
            <a:effectLst/>
          </c:spPr>
        </c:minorGridlines>
        <c:title>
          <c:tx>
            <c:rich>
              <a:bodyPr rot="0" spcFirstLastPara="1" vertOverflow="ellipsis" wrap="square" anchor="ctr" anchorCtr="1"/>
              <a:lstStyle/>
              <a:p>
                <a:pPr>
                  <a:defRPr sz="1100" b="1" i="0" u="none" strike="noStrike" kern="1200" cap="none"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b="1" cap="none" baseline="0"/>
                  <a:t>Avg duration h:m:s</a:t>
                </a:r>
              </a:p>
            </c:rich>
          </c:tx>
          <c:layout>
            <c:manualLayout>
              <c:xMode val="edge"/>
              <c:yMode val="edge"/>
              <c:x val="2.0086258539987172E-2"/>
              <c:y val="8.208877361400102E-2"/>
            </c:manualLayout>
          </c:layout>
          <c:overlay val="0"/>
          <c:spPr>
            <a:noFill/>
            <a:ln>
              <a:noFill/>
            </a:ln>
            <a:effectLst/>
          </c:spPr>
          <c:txPr>
            <a:bodyPr rot="0" spcFirstLastPara="1" vertOverflow="ellipsis" wrap="square" anchor="ctr" anchorCtr="1"/>
            <a:lstStyle/>
            <a:p>
              <a:pPr>
                <a:defRPr sz="1100" b="1" i="0" u="none" strike="noStrike" kern="1200" cap="none"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h:mm:ss" sourceLinked="1"/>
        <c:majorTickMark val="none"/>
        <c:minorTickMark val="none"/>
        <c:tickLblPos val="nextTo"/>
        <c:spPr>
          <a:noFill/>
          <a:ln w="3175" cap="flat" cmpd="sng" algn="ctr">
            <a:noFill/>
            <a:round/>
            <a:tailEnd type="none" w="med" len="lg"/>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80273440"/>
        <c:crosses val="autoZero"/>
        <c:crossBetween val="between"/>
        <c:majorUnit val="3.4722222222220013E-3"/>
        <c:minorUnit val="1.3888800000000003E-3"/>
      </c:valAx>
      <c:spPr>
        <a:noFill/>
        <a:ln>
          <a:noFill/>
        </a:ln>
        <a:effectLst/>
      </c:spPr>
    </c:plotArea>
    <c:legend>
      <c:legendPos val="t"/>
      <c:layout>
        <c:manualLayout>
          <c:xMode val="edge"/>
          <c:yMode val="edge"/>
          <c:x val="0.67875219884866611"/>
          <c:y val="7.9037068598210483E-2"/>
          <c:w val="0.27255560094452752"/>
          <c:h val="5.4562987292644242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chart>
  <c:spPr>
    <a:noFill/>
    <a:ln w="9525" cap="flat" cmpd="sng" algn="ctr">
      <a:noFill/>
      <a:round/>
    </a:ln>
    <a:effectLst/>
  </c:spPr>
  <c:txPr>
    <a:bodyPr/>
    <a:lstStyle/>
    <a:p>
      <a:pPr>
        <a:defRPr sz="11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none" spc="150" baseline="0">
                <a:solidFill>
                  <a:schemeClr val="tx2"/>
                </a:solidFill>
                <a:latin typeface="Calibri" panose="020F0502020204030204" pitchFamily="34" charset="0"/>
                <a:ea typeface="Calibri" panose="020F0502020204030204" pitchFamily="34" charset="0"/>
                <a:cs typeface="Calibri" panose="020F0502020204030204" pitchFamily="34" charset="0"/>
              </a:defRPr>
            </a:pPr>
            <a:r>
              <a:rPr lang="en-US" sz="1400" b="1" i="0" u="none" strike="noStrike" kern="1200" cap="none" spc="150" baseline="0" dirty="0">
                <a:solidFill>
                  <a:schemeClr val="tx2"/>
                </a:solidFill>
              </a:rPr>
              <a:t>Members lead all volume buckets less than 30 minutes</a:t>
            </a:r>
          </a:p>
        </c:rich>
      </c:tx>
      <c:layout>
        <c:manualLayout>
          <c:xMode val="edge"/>
          <c:yMode val="edge"/>
          <c:x val="2.6804577464788745E-2"/>
          <c:y val="1.2135922330097087E-2"/>
        </c:manualLayout>
      </c:layout>
      <c:overlay val="0"/>
      <c:spPr>
        <a:noFill/>
        <a:ln>
          <a:noFill/>
        </a:ln>
        <a:effectLst/>
      </c:spPr>
      <c:txPr>
        <a:bodyPr rot="0" spcFirstLastPara="1" vertOverflow="ellipsis" vert="horz" wrap="square" anchor="ctr" anchorCtr="1"/>
        <a:lstStyle/>
        <a:p>
          <a:pPr>
            <a:defRPr sz="1400" b="1" i="0" u="none" strike="noStrike" kern="1200" cap="none" spc="150" baseline="0">
              <a:solidFill>
                <a:schemeClr val="tx2"/>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8.302958005372775E-2"/>
          <c:y val="0.14102535817718595"/>
          <c:w val="0.9008319417494729"/>
          <c:h val="0.74443584938701624"/>
        </c:manualLayout>
      </c:layout>
      <c:barChart>
        <c:barDir val="col"/>
        <c:grouping val="clustered"/>
        <c:varyColors val="0"/>
        <c:ser>
          <c:idx val="0"/>
          <c:order val="0"/>
          <c:tx>
            <c:v>casuals</c:v>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cat>
            <c:strRef>
              <c:f>TimeBuckets_Data!$A$2:$A$7</c:f>
              <c:strCache>
                <c:ptCount val="6"/>
                <c:pt idx="0">
                  <c:v>0-5 min</c:v>
                </c:pt>
                <c:pt idx="1">
                  <c:v>5-10 min</c:v>
                </c:pt>
                <c:pt idx="2">
                  <c:v>10-15 min</c:v>
                </c:pt>
                <c:pt idx="3">
                  <c:v>15-30 min</c:v>
                </c:pt>
                <c:pt idx="4">
                  <c:v>30-60 min</c:v>
                </c:pt>
                <c:pt idx="5">
                  <c:v>60+ min</c:v>
                </c:pt>
              </c:strCache>
            </c:strRef>
          </c:cat>
          <c:val>
            <c:numRef>
              <c:f>TimeBuckets_Data!$B$2:$B$7</c:f>
              <c:numCache>
                <c:formatCode>General</c:formatCode>
                <c:ptCount val="6"/>
                <c:pt idx="0">
                  <c:v>336492</c:v>
                </c:pt>
                <c:pt idx="1">
                  <c:v>523426</c:v>
                </c:pt>
                <c:pt idx="2">
                  <c:v>356545</c:v>
                </c:pt>
                <c:pt idx="3">
                  <c:v>460428</c:v>
                </c:pt>
                <c:pt idx="4">
                  <c:v>211950</c:v>
                </c:pt>
                <c:pt idx="5">
                  <c:v>103263</c:v>
                </c:pt>
              </c:numCache>
            </c:numRef>
          </c:val>
          <c:extLst>
            <c:ext xmlns:c16="http://schemas.microsoft.com/office/drawing/2014/chart" uri="{C3380CC4-5D6E-409C-BE32-E72D297353CC}">
              <c16:uniqueId val="{00000000-FB62-4A06-9242-8D9AC32C5B02}"/>
            </c:ext>
          </c:extLst>
        </c:ser>
        <c:ser>
          <c:idx val="1"/>
          <c:order val="1"/>
          <c:tx>
            <c:v>members</c:v>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cat>
            <c:strRef>
              <c:f>TimeBuckets_Data!$A$2:$A$7</c:f>
              <c:strCache>
                <c:ptCount val="6"/>
                <c:pt idx="0">
                  <c:v>0-5 min</c:v>
                </c:pt>
                <c:pt idx="1">
                  <c:v>5-10 min</c:v>
                </c:pt>
                <c:pt idx="2">
                  <c:v>10-15 min</c:v>
                </c:pt>
                <c:pt idx="3">
                  <c:v>15-30 min</c:v>
                </c:pt>
                <c:pt idx="4">
                  <c:v>30-60 min</c:v>
                </c:pt>
                <c:pt idx="5">
                  <c:v>60+ min</c:v>
                </c:pt>
              </c:strCache>
            </c:strRef>
          </c:cat>
          <c:val>
            <c:numRef>
              <c:f>TimeBuckets_Data!$C$2:$C$7</c:f>
              <c:numCache>
                <c:formatCode>General</c:formatCode>
                <c:ptCount val="6"/>
                <c:pt idx="0">
                  <c:v>871478</c:v>
                </c:pt>
                <c:pt idx="1">
                  <c:v>1160601</c:v>
                </c:pt>
                <c:pt idx="2">
                  <c:v>652001</c:v>
                </c:pt>
                <c:pt idx="3">
                  <c:v>638772</c:v>
                </c:pt>
                <c:pt idx="4">
                  <c:v>164365</c:v>
                </c:pt>
                <c:pt idx="5">
                  <c:v>21984</c:v>
                </c:pt>
              </c:numCache>
            </c:numRef>
          </c:val>
          <c:extLst>
            <c:ext xmlns:c16="http://schemas.microsoft.com/office/drawing/2014/chart" uri="{C3380CC4-5D6E-409C-BE32-E72D297353CC}">
              <c16:uniqueId val="{00000001-FB62-4A06-9242-8D9AC32C5B02}"/>
            </c:ext>
          </c:extLst>
        </c:ser>
        <c:dLbls>
          <c:showLegendKey val="0"/>
          <c:showVal val="0"/>
          <c:showCatName val="0"/>
          <c:showSerName val="0"/>
          <c:showPercent val="0"/>
          <c:showBubbleSize val="0"/>
        </c:dLbls>
        <c:gapWidth val="164"/>
        <c:overlap val="-22"/>
        <c:axId val="1068555152"/>
        <c:axId val="1068556592"/>
      </c:barChart>
      <c:catAx>
        <c:axId val="1068555152"/>
        <c:scaling>
          <c:orientation val="minMax"/>
        </c:scaling>
        <c:delete val="0"/>
        <c:axPos val="b"/>
        <c:title>
          <c:tx>
            <c:rich>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Average Duration Bucket</a:t>
                </a:r>
              </a:p>
            </c:rich>
          </c:tx>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068556592"/>
        <c:crosses val="autoZero"/>
        <c:auto val="1"/>
        <c:lblAlgn val="ctr"/>
        <c:lblOffset val="100"/>
        <c:noMultiLvlLbl val="0"/>
      </c:catAx>
      <c:valAx>
        <c:axId val="1068556592"/>
        <c:scaling>
          <c:orientation val="minMax"/>
        </c:scaling>
        <c:delete val="0"/>
        <c:axPos val="l"/>
        <c:majorGridlines>
          <c:spPr>
            <a:ln>
              <a:solidFill>
                <a:schemeClr val="tx1">
                  <a:lumMod val="15000"/>
                  <a:lumOff val="85000"/>
                </a:schemeClr>
              </a:solidFill>
            </a:ln>
            <a:effectLst/>
          </c:spPr>
        </c:majorGridlines>
        <c:title>
          <c:tx>
            <c:rich>
              <a:bodyPr rot="0" spcFirstLastPara="1" vertOverflow="ellipsis"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Ride count M</a:t>
                </a:r>
              </a:p>
            </c:rich>
          </c:tx>
          <c:layout>
            <c:manualLayout>
              <c:xMode val="edge"/>
              <c:yMode val="edge"/>
              <c:x val="3.2664711000868402E-2"/>
              <c:y val="7.3317678378466575E-2"/>
            </c:manualLayout>
          </c:layout>
          <c:overlay val="0"/>
          <c:spPr>
            <a:noFill/>
            <a:ln>
              <a:noFill/>
            </a:ln>
            <a:effectLst/>
          </c:spPr>
          <c:txPr>
            <a:bodyPr rot="0" spcFirstLastPara="1" vertOverflow="ellipsis"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068555152"/>
        <c:crosses val="autoZero"/>
        <c:crossBetween val="between"/>
        <c:majorUnit val="100000"/>
        <c:dispUnits>
          <c:builtInUnit val="millions"/>
        </c:dispUnits>
      </c:valAx>
      <c:spPr>
        <a:noFill/>
        <a:ln>
          <a:noFill/>
        </a:ln>
        <a:effectLst/>
      </c:spPr>
    </c:plotArea>
    <c:legend>
      <c:legendPos val="t"/>
      <c:layout>
        <c:manualLayout>
          <c:xMode val="edge"/>
          <c:yMode val="edge"/>
          <c:x val="0.77955617505419073"/>
          <c:y val="7.6119345359978913E-2"/>
          <c:w val="0.1920712265720306"/>
          <c:h val="3.4132520449506924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chart>
  <c:spPr>
    <a:noFill/>
    <a:ln w="9525" cap="flat" cmpd="sng" algn="ctr">
      <a:noFill/>
      <a:round/>
    </a:ln>
    <a:effectLst/>
  </c:spPr>
  <c:txPr>
    <a:bodyPr/>
    <a:lstStyle/>
    <a:p>
      <a:pPr>
        <a:defRPr sz="11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50" baseline="0">
                <a:solidFill>
                  <a:schemeClr val="tx1">
                    <a:lumMod val="50000"/>
                    <a:lumOff val="50000"/>
                  </a:schemeClr>
                </a:solidFill>
                <a:latin typeface="Calibri" panose="020F0502020204030204" pitchFamily="34" charset="0"/>
                <a:ea typeface="Calibri" panose="020F0502020204030204" pitchFamily="34" charset="0"/>
                <a:cs typeface="Calibri" panose="020F0502020204030204" pitchFamily="34" charset="0"/>
              </a:defRPr>
            </a:pPr>
            <a:r>
              <a:rPr lang="en-US" sz="1600" cap="none" baseline="0" dirty="0">
                <a:solidFill>
                  <a:schemeClr val="tx2"/>
                </a:solidFill>
              </a:rPr>
              <a:t>Casuals dominate 30+ minutes</a:t>
            </a:r>
          </a:p>
        </c:rich>
      </c:tx>
      <c:layout>
        <c:manualLayout>
          <c:xMode val="edge"/>
          <c:yMode val="edge"/>
          <c:x val="3.4503345532512664E-2"/>
          <c:y val="1.2135922330097087E-2"/>
        </c:manualLayout>
      </c:layout>
      <c:overlay val="0"/>
      <c:spPr>
        <a:noFill/>
        <a:ln>
          <a:noFill/>
        </a:ln>
        <a:effectLst/>
      </c:spPr>
      <c:txPr>
        <a:bodyPr rot="0" spcFirstLastPara="1" vertOverflow="ellipsis" vert="horz" wrap="square" anchor="ctr" anchorCtr="1"/>
        <a:lstStyle/>
        <a:p>
          <a:pPr>
            <a:defRPr sz="1600" b="1" i="0" u="none" strike="noStrike" kern="1200" cap="all" spc="150" baseline="0">
              <a:solidFill>
                <a:schemeClr val="tx1">
                  <a:lumMod val="50000"/>
                  <a:lumOff val="50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8.1133014581033697E-2"/>
          <c:y val="0.13900253209472582"/>
          <c:w val="0.9027285072221668"/>
          <c:h val="0.75365301431421772"/>
        </c:manualLayout>
      </c:layout>
      <c:barChart>
        <c:barDir val="col"/>
        <c:grouping val="clustered"/>
        <c:varyColors val="0"/>
        <c:ser>
          <c:idx val="0"/>
          <c:order val="0"/>
          <c:tx>
            <c:v>casuals</c:v>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cat>
            <c:strRef>
              <c:f>TimeBuckets_Data!$A$2:$A$7</c:f>
              <c:strCache>
                <c:ptCount val="6"/>
                <c:pt idx="0">
                  <c:v>0-5 min</c:v>
                </c:pt>
                <c:pt idx="1">
                  <c:v>5-10 min</c:v>
                </c:pt>
                <c:pt idx="2">
                  <c:v>10-15 min</c:v>
                </c:pt>
                <c:pt idx="3">
                  <c:v>15-30 min</c:v>
                </c:pt>
                <c:pt idx="4">
                  <c:v>30-60 min</c:v>
                </c:pt>
                <c:pt idx="5">
                  <c:v>60+ min</c:v>
                </c:pt>
              </c:strCache>
            </c:strRef>
          </c:cat>
          <c:val>
            <c:numRef>
              <c:f>TimeBuckets_Data!$D$2:$D$7</c:f>
              <c:numCache>
                <c:formatCode>General</c:formatCode>
                <c:ptCount val="6"/>
                <c:pt idx="0">
                  <c:v>16.89</c:v>
                </c:pt>
                <c:pt idx="1">
                  <c:v>26.28</c:v>
                </c:pt>
                <c:pt idx="2">
                  <c:v>17.899999999999999</c:v>
                </c:pt>
                <c:pt idx="3">
                  <c:v>23.11</c:v>
                </c:pt>
                <c:pt idx="4">
                  <c:v>10.64</c:v>
                </c:pt>
                <c:pt idx="5">
                  <c:v>5.18</c:v>
                </c:pt>
              </c:numCache>
            </c:numRef>
          </c:val>
          <c:extLst>
            <c:ext xmlns:c16="http://schemas.microsoft.com/office/drawing/2014/chart" uri="{C3380CC4-5D6E-409C-BE32-E72D297353CC}">
              <c16:uniqueId val="{00000000-E20F-46D2-A620-9CDED3A7D529}"/>
            </c:ext>
          </c:extLst>
        </c:ser>
        <c:ser>
          <c:idx val="1"/>
          <c:order val="1"/>
          <c:tx>
            <c:v>members</c:v>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cat>
            <c:strRef>
              <c:f>TimeBuckets_Data!$A$2:$A$7</c:f>
              <c:strCache>
                <c:ptCount val="6"/>
                <c:pt idx="0">
                  <c:v>0-5 min</c:v>
                </c:pt>
                <c:pt idx="1">
                  <c:v>5-10 min</c:v>
                </c:pt>
                <c:pt idx="2">
                  <c:v>10-15 min</c:v>
                </c:pt>
                <c:pt idx="3">
                  <c:v>15-30 min</c:v>
                </c:pt>
                <c:pt idx="4">
                  <c:v>30-60 min</c:v>
                </c:pt>
                <c:pt idx="5">
                  <c:v>60+ min</c:v>
                </c:pt>
              </c:strCache>
            </c:strRef>
          </c:cat>
          <c:val>
            <c:numRef>
              <c:f>TimeBuckets_Data!$E$2:$E$7</c:f>
              <c:numCache>
                <c:formatCode>General</c:formatCode>
                <c:ptCount val="6"/>
                <c:pt idx="0">
                  <c:v>24.83</c:v>
                </c:pt>
                <c:pt idx="1">
                  <c:v>33.07</c:v>
                </c:pt>
                <c:pt idx="2">
                  <c:v>18.579999999999998</c:v>
                </c:pt>
                <c:pt idx="3">
                  <c:v>18.2</c:v>
                </c:pt>
                <c:pt idx="4">
                  <c:v>4.68</c:v>
                </c:pt>
                <c:pt idx="5">
                  <c:v>0.63</c:v>
                </c:pt>
              </c:numCache>
            </c:numRef>
          </c:val>
          <c:extLst>
            <c:ext xmlns:c16="http://schemas.microsoft.com/office/drawing/2014/chart" uri="{C3380CC4-5D6E-409C-BE32-E72D297353CC}">
              <c16:uniqueId val="{00000001-E20F-46D2-A620-9CDED3A7D529}"/>
            </c:ext>
          </c:extLst>
        </c:ser>
        <c:dLbls>
          <c:showLegendKey val="0"/>
          <c:showVal val="0"/>
          <c:showCatName val="0"/>
          <c:showSerName val="0"/>
          <c:showPercent val="0"/>
          <c:showBubbleSize val="0"/>
        </c:dLbls>
        <c:gapWidth val="164"/>
        <c:overlap val="-22"/>
        <c:axId val="757162480"/>
        <c:axId val="757167280"/>
      </c:barChart>
      <c:catAx>
        <c:axId val="757162480"/>
        <c:scaling>
          <c:orientation val="minMax"/>
        </c:scaling>
        <c:delete val="0"/>
        <c:axPos val="b"/>
        <c:title>
          <c:tx>
            <c:rich>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Average Duration Bucket</a:t>
                </a:r>
              </a:p>
            </c:rich>
          </c:tx>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757167280"/>
        <c:crosses val="autoZero"/>
        <c:auto val="1"/>
        <c:lblAlgn val="ctr"/>
        <c:lblOffset val="100"/>
        <c:noMultiLvlLbl val="0"/>
      </c:catAx>
      <c:valAx>
        <c:axId val="757167280"/>
        <c:scaling>
          <c:orientation val="minMax"/>
        </c:scaling>
        <c:delete val="0"/>
        <c:axPos val="l"/>
        <c:majorGridlines>
          <c:spPr>
            <a:ln>
              <a:solidFill>
                <a:schemeClr val="tx1">
                  <a:lumMod val="15000"/>
                  <a:lumOff val="85000"/>
                </a:schemeClr>
              </a:solidFill>
            </a:ln>
            <a:effectLst/>
          </c:spPr>
        </c:majorGridlines>
        <c:title>
          <c:tx>
            <c:rich>
              <a:bodyPr rot="0" spcFirstLastPara="1" vertOverflow="ellipsis" wrap="square" anchor="ctr" anchorCtr="1"/>
              <a:lstStyle/>
              <a:p>
                <a:pPr algn="l">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Ride count %</a:t>
                </a:r>
              </a:p>
            </c:rich>
          </c:tx>
          <c:layout>
            <c:manualLayout>
              <c:xMode val="edge"/>
              <c:yMode val="edge"/>
              <c:x val="3.5211331372604578E-2"/>
              <c:y val="6.8607173241885602E-2"/>
            </c:manualLayout>
          </c:layout>
          <c:overlay val="0"/>
          <c:spPr>
            <a:noFill/>
            <a:ln>
              <a:noFill/>
            </a:ln>
            <a:effectLst/>
          </c:spPr>
          <c:txPr>
            <a:bodyPr rot="0" spcFirstLastPara="1" vertOverflow="ellipsis" wrap="square" anchor="ctr" anchorCtr="1"/>
            <a:lstStyle/>
            <a:p>
              <a:pPr algn="l">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757162480"/>
        <c:crosses val="autoZero"/>
        <c:crossBetween val="between"/>
        <c:majorUnit val="2"/>
      </c:valAx>
      <c:spPr>
        <a:noFill/>
        <a:ln>
          <a:noFill/>
        </a:ln>
        <a:effectLst/>
      </c:spPr>
    </c:plotArea>
    <c:legend>
      <c:legendPos val="t"/>
      <c:layout>
        <c:manualLayout>
          <c:xMode val="edge"/>
          <c:yMode val="edge"/>
          <c:x val="0.78248551347454809"/>
          <c:y val="6.0629124939479653E-2"/>
          <c:w val="0.19940690732320435"/>
          <c:h val="3.4132520449506924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chart>
  <c:spPr>
    <a:noFill/>
    <a:ln w="9525" cap="flat" cmpd="sng" algn="ctr">
      <a:noFill/>
      <a:round/>
    </a:ln>
    <a:effectLst/>
  </c:spPr>
  <c:txPr>
    <a:bodyPr/>
    <a:lstStyle/>
    <a:p>
      <a:pPr>
        <a:defRPr sz="11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320" b="1" i="0" u="none" strike="noStrike" kern="1200" cap="all" spc="150" baseline="0">
                <a:solidFill>
                  <a:schemeClr val="tx1">
                    <a:lumMod val="50000"/>
                    <a:lumOff val="50000"/>
                  </a:schemeClr>
                </a:solidFill>
                <a:latin typeface="Calibri" panose="020F0502020204030204" pitchFamily="34" charset="0"/>
                <a:ea typeface="Calibri" panose="020F0502020204030204" pitchFamily="34" charset="0"/>
                <a:cs typeface="Calibri" panose="020F0502020204030204" pitchFamily="34" charset="0"/>
              </a:defRPr>
            </a:pPr>
            <a:r>
              <a:rPr lang="en-US" cap="none" baseline="0" dirty="0">
                <a:solidFill>
                  <a:schemeClr val="tx2"/>
                </a:solidFill>
              </a:rPr>
              <a:t>Members dominate the weekdays, casuals prefer weekends</a:t>
            </a:r>
          </a:p>
        </c:rich>
      </c:tx>
      <c:layout>
        <c:manualLayout>
          <c:xMode val="edge"/>
          <c:yMode val="edge"/>
          <c:x val="3.1715786847066649E-2"/>
          <c:y val="1.2135922330097087E-2"/>
        </c:manualLayout>
      </c:layout>
      <c:overlay val="0"/>
      <c:spPr>
        <a:noFill/>
        <a:ln>
          <a:noFill/>
        </a:ln>
        <a:effectLst/>
      </c:spPr>
      <c:txPr>
        <a:bodyPr rot="0" spcFirstLastPara="1" vertOverflow="ellipsis" vert="horz" wrap="square" anchor="ctr" anchorCtr="1"/>
        <a:lstStyle/>
        <a:p>
          <a:pPr>
            <a:defRPr sz="1320" b="1" i="0" u="none" strike="noStrike" kern="1200" cap="all" spc="150" baseline="0">
              <a:solidFill>
                <a:schemeClr val="tx1">
                  <a:lumMod val="50000"/>
                  <a:lumOff val="50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9.1875955474978441E-2"/>
          <c:y val="0.13745657082947821"/>
          <c:w val="0.89198556807419116"/>
          <c:h val="0.79858609007160553"/>
        </c:manualLayout>
      </c:layout>
      <c:barChart>
        <c:barDir val="col"/>
        <c:grouping val="clustered"/>
        <c:varyColors val="0"/>
        <c:ser>
          <c:idx val="0"/>
          <c:order val="0"/>
          <c:tx>
            <c:v>casuals</c:v>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cat>
            <c:strRef>
              <c:f>DayOfWeek_Data!$A$2:$A$8</c:f>
              <c:strCache>
                <c:ptCount val="7"/>
                <c:pt idx="0">
                  <c:v>Monday</c:v>
                </c:pt>
                <c:pt idx="1">
                  <c:v>Tuesday</c:v>
                </c:pt>
                <c:pt idx="2">
                  <c:v>Wednesday</c:v>
                </c:pt>
                <c:pt idx="3">
                  <c:v>Thursday</c:v>
                </c:pt>
                <c:pt idx="4">
                  <c:v>Friday</c:v>
                </c:pt>
                <c:pt idx="5">
                  <c:v>Saturday</c:v>
                </c:pt>
                <c:pt idx="6">
                  <c:v>Sunday</c:v>
                </c:pt>
              </c:strCache>
            </c:strRef>
          </c:cat>
          <c:val>
            <c:numRef>
              <c:f>DayOfWeek_Data!$B$2:$B$8</c:f>
              <c:numCache>
                <c:formatCode>General</c:formatCode>
                <c:ptCount val="7"/>
                <c:pt idx="0">
                  <c:v>228639</c:v>
                </c:pt>
                <c:pt idx="1">
                  <c:v>220926</c:v>
                </c:pt>
                <c:pt idx="2">
                  <c:v>223692</c:v>
                </c:pt>
                <c:pt idx="3">
                  <c:v>252143</c:v>
                </c:pt>
                <c:pt idx="4">
                  <c:v>310975</c:v>
                </c:pt>
                <c:pt idx="5">
                  <c:v>409488</c:v>
                </c:pt>
                <c:pt idx="6">
                  <c:v>346241</c:v>
                </c:pt>
              </c:numCache>
            </c:numRef>
          </c:val>
          <c:extLst>
            <c:ext xmlns:c16="http://schemas.microsoft.com/office/drawing/2014/chart" uri="{C3380CC4-5D6E-409C-BE32-E72D297353CC}">
              <c16:uniqueId val="{00000000-55DD-4809-A8F7-FB02135B6E23}"/>
            </c:ext>
          </c:extLst>
        </c:ser>
        <c:ser>
          <c:idx val="1"/>
          <c:order val="1"/>
          <c:tx>
            <c:v>members</c:v>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cat>
            <c:strRef>
              <c:f>DayOfWeek_Data!$A$2:$A$8</c:f>
              <c:strCache>
                <c:ptCount val="7"/>
                <c:pt idx="0">
                  <c:v>Monday</c:v>
                </c:pt>
                <c:pt idx="1">
                  <c:v>Tuesday</c:v>
                </c:pt>
                <c:pt idx="2">
                  <c:v>Wednesday</c:v>
                </c:pt>
                <c:pt idx="3">
                  <c:v>Thursday</c:v>
                </c:pt>
                <c:pt idx="4">
                  <c:v>Friday</c:v>
                </c:pt>
                <c:pt idx="5">
                  <c:v>Saturday</c:v>
                </c:pt>
                <c:pt idx="6">
                  <c:v>Sunday</c:v>
                </c:pt>
              </c:strCache>
            </c:strRef>
          </c:cat>
          <c:val>
            <c:numRef>
              <c:f>DayOfWeek_Data!$C$2:$C$8</c:f>
              <c:numCache>
                <c:formatCode>General</c:formatCode>
                <c:ptCount val="7"/>
                <c:pt idx="0">
                  <c:v>505814</c:v>
                </c:pt>
                <c:pt idx="1">
                  <c:v>551807</c:v>
                </c:pt>
                <c:pt idx="2">
                  <c:v>542808</c:v>
                </c:pt>
                <c:pt idx="3">
                  <c:v>554736</c:v>
                </c:pt>
                <c:pt idx="4">
                  <c:v>513116</c:v>
                </c:pt>
                <c:pt idx="5">
                  <c:v>447104</c:v>
                </c:pt>
                <c:pt idx="6">
                  <c:v>393816</c:v>
                </c:pt>
              </c:numCache>
            </c:numRef>
          </c:val>
          <c:extLst>
            <c:ext xmlns:c16="http://schemas.microsoft.com/office/drawing/2014/chart" uri="{C3380CC4-5D6E-409C-BE32-E72D297353CC}">
              <c16:uniqueId val="{00000001-55DD-4809-A8F7-FB02135B6E23}"/>
            </c:ext>
          </c:extLst>
        </c:ser>
        <c:dLbls>
          <c:showLegendKey val="0"/>
          <c:showVal val="0"/>
          <c:showCatName val="0"/>
          <c:showSerName val="0"/>
          <c:showPercent val="0"/>
          <c:showBubbleSize val="0"/>
        </c:dLbls>
        <c:gapWidth val="164"/>
        <c:overlap val="-22"/>
        <c:axId val="266226784"/>
        <c:axId val="266225824"/>
      </c:barChart>
      <c:catAx>
        <c:axId val="266226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266225824"/>
        <c:crosses val="autoZero"/>
        <c:auto val="1"/>
        <c:lblAlgn val="ctr"/>
        <c:lblOffset val="100"/>
        <c:noMultiLvlLbl val="0"/>
      </c:catAx>
      <c:valAx>
        <c:axId val="266225824"/>
        <c:scaling>
          <c:orientation val="minMax"/>
        </c:scaling>
        <c:delete val="0"/>
        <c:axPos val="l"/>
        <c:majorGridlines>
          <c:spPr>
            <a:ln>
              <a:solidFill>
                <a:schemeClr val="tx1">
                  <a:lumMod val="15000"/>
                  <a:lumOff val="85000"/>
                </a:schemeClr>
              </a:solidFill>
            </a:ln>
            <a:effectLst/>
          </c:spPr>
        </c:majorGridlines>
        <c:title>
          <c:tx>
            <c:rich>
              <a:bodyPr rot="0" spcFirstLastPara="1" vertOverflow="ellipsis"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Ride count K</a:t>
                </a:r>
              </a:p>
            </c:rich>
          </c:tx>
          <c:layout>
            <c:manualLayout>
              <c:xMode val="edge"/>
              <c:yMode val="edge"/>
              <c:x val="3.5211248603233873E-2"/>
              <c:y val="7.3317678378466575E-2"/>
            </c:manualLayout>
          </c:layout>
          <c:overlay val="0"/>
          <c:spPr>
            <a:noFill/>
            <a:ln>
              <a:noFill/>
            </a:ln>
            <a:effectLst/>
          </c:spPr>
          <c:txPr>
            <a:bodyPr rot="0" spcFirstLastPara="1" vertOverflow="ellipsis"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266226784"/>
        <c:crosses val="autoZero"/>
        <c:crossBetween val="between"/>
        <c:majorUnit val="50000"/>
        <c:dispUnits>
          <c:builtInUnit val="thousands"/>
        </c:dispUnits>
      </c:valAx>
      <c:spPr>
        <a:noFill/>
        <a:ln>
          <a:noFill/>
        </a:ln>
        <a:effectLst/>
      </c:spPr>
    </c:plotArea>
    <c:legend>
      <c:legendPos val="t"/>
      <c:layout>
        <c:manualLayout>
          <c:xMode val="edge"/>
          <c:yMode val="edge"/>
          <c:x val="0.77808410502384384"/>
          <c:y val="6.2651778661162505E-2"/>
          <c:w val="0.20087404347343907"/>
          <c:h val="3.4132520449506924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chart>
  <c:spPr>
    <a:noFill/>
    <a:ln w="9525" cap="flat" cmpd="sng" algn="ctr">
      <a:noFill/>
      <a:round/>
    </a:ln>
    <a:effectLst/>
  </c:spPr>
  <c:txPr>
    <a:bodyPr/>
    <a:lstStyle/>
    <a:p>
      <a:pPr>
        <a:defRPr sz="11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50" b="1" i="0" u="none" strike="noStrike" kern="1200" cap="all" spc="150" baseline="0">
                <a:solidFill>
                  <a:schemeClr val="tx1">
                    <a:lumMod val="50000"/>
                    <a:lumOff val="50000"/>
                  </a:schemeClr>
                </a:solidFill>
                <a:latin typeface="Calibri" panose="020F0502020204030204" pitchFamily="34" charset="0"/>
                <a:ea typeface="Calibri" panose="020F0502020204030204" pitchFamily="34" charset="0"/>
                <a:cs typeface="Calibri" panose="020F0502020204030204" pitchFamily="34" charset="0"/>
              </a:defRPr>
            </a:pPr>
            <a:r>
              <a:rPr lang="en-US" sz="1450" cap="none" baseline="0" dirty="0">
                <a:solidFill>
                  <a:schemeClr val="tx2"/>
                </a:solidFill>
              </a:rPr>
              <a:t>Casuals ride 1.8x longer on weekdays, 2x on weekends</a:t>
            </a:r>
          </a:p>
        </c:rich>
      </c:tx>
      <c:layout>
        <c:manualLayout>
          <c:xMode val="edge"/>
          <c:yMode val="edge"/>
          <c:x val="2.9078638497652583E-2"/>
          <c:y val="1.2135922330097087E-2"/>
        </c:manualLayout>
      </c:layout>
      <c:overlay val="0"/>
      <c:spPr>
        <a:noFill/>
        <a:ln>
          <a:noFill/>
        </a:ln>
        <a:effectLst/>
      </c:spPr>
      <c:txPr>
        <a:bodyPr rot="0" spcFirstLastPara="1" vertOverflow="ellipsis" vert="horz" wrap="square" anchor="ctr" anchorCtr="1"/>
        <a:lstStyle/>
        <a:p>
          <a:pPr>
            <a:defRPr sz="1450" b="1" i="0" u="none" strike="noStrike" kern="1200" cap="all" spc="150" baseline="0">
              <a:solidFill>
                <a:schemeClr val="tx1">
                  <a:lumMod val="50000"/>
                  <a:lumOff val="50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0.12350716145215454"/>
          <c:y val="0.15701768053872164"/>
          <c:w val="0.85595295286654693"/>
          <c:h val="0.77902498036236212"/>
        </c:manualLayout>
      </c:layout>
      <c:barChart>
        <c:barDir val="col"/>
        <c:grouping val="clustered"/>
        <c:varyColors val="0"/>
        <c:ser>
          <c:idx val="0"/>
          <c:order val="0"/>
          <c:tx>
            <c:v>casuals</c:v>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cat>
            <c:strRef>
              <c:f>DayOfWeek_Data!$A$2:$A$8</c:f>
              <c:strCache>
                <c:ptCount val="7"/>
                <c:pt idx="0">
                  <c:v>Monday</c:v>
                </c:pt>
                <c:pt idx="1">
                  <c:v>Tuesday</c:v>
                </c:pt>
                <c:pt idx="2">
                  <c:v>Wednesday</c:v>
                </c:pt>
                <c:pt idx="3">
                  <c:v>Thursday</c:v>
                </c:pt>
                <c:pt idx="4">
                  <c:v>Friday</c:v>
                </c:pt>
                <c:pt idx="5">
                  <c:v>Saturday</c:v>
                </c:pt>
                <c:pt idx="6">
                  <c:v>Sunday</c:v>
                </c:pt>
              </c:strCache>
            </c:strRef>
          </c:cat>
          <c:val>
            <c:numRef>
              <c:f>DayOfWeek_Data!$D$2:$D$8</c:f>
              <c:numCache>
                <c:formatCode>h:mm:ss</c:formatCode>
                <c:ptCount val="7"/>
                <c:pt idx="0">
                  <c:v>1.5844907407407408E-2</c:v>
                </c:pt>
                <c:pt idx="1">
                  <c:v>1.4143518518518519E-2</c:v>
                </c:pt>
                <c:pt idx="2">
                  <c:v>1.3622685185185186E-2</c:v>
                </c:pt>
                <c:pt idx="3">
                  <c:v>1.4270833333333333E-2</c:v>
                </c:pt>
                <c:pt idx="4">
                  <c:v>1.59375E-2</c:v>
                </c:pt>
                <c:pt idx="5">
                  <c:v>1.8310185185185186E-2</c:v>
                </c:pt>
                <c:pt idx="6">
                  <c:v>1.8692129629629628E-2</c:v>
                </c:pt>
              </c:numCache>
            </c:numRef>
          </c:val>
          <c:extLst>
            <c:ext xmlns:c16="http://schemas.microsoft.com/office/drawing/2014/chart" uri="{C3380CC4-5D6E-409C-BE32-E72D297353CC}">
              <c16:uniqueId val="{00000000-6AD1-404F-A071-8E33E813DF35}"/>
            </c:ext>
          </c:extLst>
        </c:ser>
        <c:ser>
          <c:idx val="1"/>
          <c:order val="1"/>
          <c:tx>
            <c:v>members</c:v>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cat>
            <c:strRef>
              <c:f>DayOfWeek_Data!$A$2:$A$8</c:f>
              <c:strCache>
                <c:ptCount val="7"/>
                <c:pt idx="0">
                  <c:v>Monday</c:v>
                </c:pt>
                <c:pt idx="1">
                  <c:v>Tuesday</c:v>
                </c:pt>
                <c:pt idx="2">
                  <c:v>Wednesday</c:v>
                </c:pt>
                <c:pt idx="3">
                  <c:v>Thursday</c:v>
                </c:pt>
                <c:pt idx="4">
                  <c:v>Friday</c:v>
                </c:pt>
                <c:pt idx="5">
                  <c:v>Saturday</c:v>
                </c:pt>
                <c:pt idx="6">
                  <c:v>Sunday</c:v>
                </c:pt>
              </c:strCache>
            </c:strRef>
          </c:cat>
          <c:val>
            <c:numRef>
              <c:f>DayOfWeek_Data!$F$2:$F$8</c:f>
              <c:numCache>
                <c:formatCode>h:mm:ss</c:formatCode>
                <c:ptCount val="7"/>
                <c:pt idx="0">
                  <c:v>8.1018518518518514E-3</c:v>
                </c:pt>
                <c:pt idx="1">
                  <c:v>8.1481481481481474E-3</c:v>
                </c:pt>
                <c:pt idx="2">
                  <c:v>8.0902777777777778E-3</c:v>
                </c:pt>
                <c:pt idx="3">
                  <c:v>8.1712962962962963E-3</c:v>
                </c:pt>
                <c:pt idx="4">
                  <c:v>8.4143518518518517E-3</c:v>
                </c:pt>
                <c:pt idx="5">
                  <c:v>9.2592592592592587E-3</c:v>
                </c:pt>
                <c:pt idx="6">
                  <c:v>9.3981481481481485E-3</c:v>
                </c:pt>
              </c:numCache>
            </c:numRef>
          </c:val>
          <c:extLst>
            <c:ext xmlns:c16="http://schemas.microsoft.com/office/drawing/2014/chart" uri="{C3380CC4-5D6E-409C-BE32-E72D297353CC}">
              <c16:uniqueId val="{00000001-6AD1-404F-A071-8E33E813DF35}"/>
            </c:ext>
          </c:extLst>
        </c:ser>
        <c:dLbls>
          <c:showLegendKey val="0"/>
          <c:showVal val="0"/>
          <c:showCatName val="0"/>
          <c:showSerName val="0"/>
          <c:showPercent val="0"/>
          <c:showBubbleSize val="0"/>
        </c:dLbls>
        <c:gapWidth val="164"/>
        <c:overlap val="-22"/>
        <c:axId val="266226784"/>
        <c:axId val="266225824"/>
      </c:barChart>
      <c:catAx>
        <c:axId val="266226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266225824"/>
        <c:crosses val="autoZero"/>
        <c:auto val="1"/>
        <c:lblAlgn val="ctr"/>
        <c:lblOffset val="100"/>
        <c:noMultiLvlLbl val="0"/>
      </c:catAx>
      <c:valAx>
        <c:axId val="266225824"/>
        <c:scaling>
          <c:orientation val="minMax"/>
          <c:max val="2.0833333333000002E-2"/>
          <c:min val="0"/>
        </c:scaling>
        <c:delete val="0"/>
        <c:axPos val="l"/>
        <c:majorGridlines>
          <c:spPr>
            <a:ln>
              <a:solidFill>
                <a:schemeClr val="tx1">
                  <a:lumMod val="15000"/>
                  <a:lumOff val="85000"/>
                </a:schemeClr>
              </a:solidFill>
            </a:ln>
            <a:effectLst/>
          </c:spPr>
        </c:majorGridlines>
        <c:title>
          <c:tx>
            <c:rich>
              <a:bodyPr rot="0" spcFirstLastPara="1" vertOverflow="ellipsis"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Avg duration h:m:s</a:t>
                </a:r>
              </a:p>
            </c:rich>
          </c:tx>
          <c:layout>
            <c:manualLayout>
              <c:xMode val="edge"/>
              <c:yMode val="edge"/>
              <c:x val="3.0363767753738297E-2"/>
              <c:y val="7.4444458233306629E-2"/>
            </c:manualLayout>
          </c:layout>
          <c:overlay val="0"/>
          <c:spPr>
            <a:noFill/>
            <a:ln>
              <a:noFill/>
            </a:ln>
            <a:effectLst/>
          </c:spPr>
          <c:txPr>
            <a:bodyPr rot="0" spcFirstLastPara="1" vertOverflow="ellipsis"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h:mm:ss"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266226784"/>
        <c:crosses val="autoZero"/>
        <c:crossBetween val="between"/>
        <c:majorUnit val="1.3888888888000002E-3"/>
      </c:valAx>
      <c:spPr>
        <a:noFill/>
        <a:ln>
          <a:noFill/>
        </a:ln>
        <a:effectLst/>
      </c:spPr>
    </c:plotArea>
    <c:legend>
      <c:legendPos val="t"/>
      <c:layout>
        <c:manualLayout>
          <c:xMode val="edge"/>
          <c:yMode val="edge"/>
          <c:x val="0.76972734253083219"/>
          <c:y val="7.2303737379169356E-2"/>
          <c:w val="0.20380831577390854"/>
          <c:h val="3.4132520449506924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chart>
  <c:spPr>
    <a:noFill/>
    <a:ln w="9525" cap="flat" cmpd="sng" algn="ctr">
      <a:noFill/>
      <a:round/>
    </a:ln>
    <a:effectLst/>
  </c:spPr>
  <c:txPr>
    <a:bodyPr/>
    <a:lstStyle/>
    <a:p>
      <a:pPr>
        <a:defRPr sz="11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none" spc="150" baseline="0">
                <a:solidFill>
                  <a:schemeClr val="tx2"/>
                </a:solidFill>
                <a:latin typeface="Calibri" panose="020F0502020204030204" pitchFamily="34" charset="0"/>
                <a:ea typeface="Calibri" panose="020F0502020204030204" pitchFamily="34" charset="0"/>
                <a:cs typeface="Calibri" panose="020F0502020204030204" pitchFamily="34" charset="0"/>
              </a:defRPr>
            </a:pPr>
            <a:r>
              <a:rPr lang="en-US" sz="1600" cap="none" baseline="0" dirty="0">
                <a:solidFill>
                  <a:schemeClr val="tx2"/>
                </a:solidFill>
              </a:rPr>
              <a:t>93% of casuals, 75% of members vanish in winter</a:t>
            </a:r>
          </a:p>
        </c:rich>
      </c:tx>
      <c:layout>
        <c:manualLayout>
          <c:xMode val="edge"/>
          <c:yMode val="edge"/>
          <c:x val="2.8513214418922E-2"/>
          <c:y val="1.2101911434972237E-2"/>
        </c:manualLayout>
      </c:layout>
      <c:overlay val="0"/>
      <c:spPr>
        <a:noFill/>
        <a:ln>
          <a:noFill/>
        </a:ln>
        <a:effectLst/>
      </c:spPr>
      <c:txPr>
        <a:bodyPr rot="0" spcFirstLastPara="1" vertOverflow="ellipsis" vert="horz" wrap="square" anchor="ctr" anchorCtr="1"/>
        <a:lstStyle/>
        <a:p>
          <a:pPr>
            <a:defRPr sz="1600" b="1" i="0" u="none" strike="noStrike" kern="1200" cap="none" spc="150" baseline="0">
              <a:solidFill>
                <a:schemeClr val="tx2"/>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9.024986189891343E-2"/>
          <c:y val="0.13031485947540733"/>
          <c:w val="0.88485584156034913"/>
          <c:h val="0.75023521500742985"/>
        </c:manualLayout>
      </c:layout>
      <c:barChart>
        <c:barDir val="col"/>
        <c:grouping val="clustered"/>
        <c:varyColors val="0"/>
        <c:ser>
          <c:idx val="0"/>
          <c:order val="0"/>
          <c:tx>
            <c:v>casuals</c:v>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cat>
            <c:strRef>
              <c:f>Monthly_Data!$A$2:$A$13</c:f>
              <c:strCache>
                <c:ptCount val="12"/>
                <c:pt idx="0">
                  <c:v>2024-09</c:v>
                </c:pt>
                <c:pt idx="1">
                  <c:v>2024-10</c:v>
                </c:pt>
                <c:pt idx="2">
                  <c:v>2024-11</c:v>
                </c:pt>
                <c:pt idx="3">
                  <c:v>2024-12</c:v>
                </c:pt>
                <c:pt idx="4">
                  <c:v>2025-01</c:v>
                </c:pt>
                <c:pt idx="5">
                  <c:v>2025-02</c:v>
                </c:pt>
                <c:pt idx="6">
                  <c:v>2025-03</c:v>
                </c:pt>
                <c:pt idx="7">
                  <c:v>2025-04</c:v>
                </c:pt>
                <c:pt idx="8">
                  <c:v>2025-05</c:v>
                </c:pt>
                <c:pt idx="9">
                  <c:v>2025-06</c:v>
                </c:pt>
                <c:pt idx="10">
                  <c:v>2025-07</c:v>
                </c:pt>
                <c:pt idx="11">
                  <c:v>2025-08</c:v>
                </c:pt>
              </c:strCache>
            </c:strRef>
          </c:cat>
          <c:val>
            <c:numRef>
              <c:f>Monthly_Data!$B$2:$B$13</c:f>
              <c:numCache>
                <c:formatCode>General</c:formatCode>
                <c:ptCount val="12"/>
                <c:pt idx="0">
                  <c:v>261326</c:v>
                </c:pt>
                <c:pt idx="1">
                  <c:v>216442</c:v>
                </c:pt>
                <c:pt idx="2">
                  <c:v>93035</c:v>
                </c:pt>
                <c:pt idx="3">
                  <c:v>38405</c:v>
                </c:pt>
                <c:pt idx="4">
                  <c:v>24122</c:v>
                </c:pt>
                <c:pt idx="5">
                  <c:v>27752</c:v>
                </c:pt>
                <c:pt idx="6">
                  <c:v>85846</c:v>
                </c:pt>
                <c:pt idx="7">
                  <c:v>109224</c:v>
                </c:pt>
                <c:pt idx="8">
                  <c:v>182757</c:v>
                </c:pt>
                <c:pt idx="9">
                  <c:v>291987</c:v>
                </c:pt>
                <c:pt idx="10">
                  <c:v>323326</c:v>
                </c:pt>
                <c:pt idx="11">
                  <c:v>337618</c:v>
                </c:pt>
              </c:numCache>
            </c:numRef>
          </c:val>
          <c:extLst>
            <c:ext xmlns:c16="http://schemas.microsoft.com/office/drawing/2014/chart" uri="{C3380CC4-5D6E-409C-BE32-E72D297353CC}">
              <c16:uniqueId val="{00000000-63A4-4A97-9B03-5612A2A361CB}"/>
            </c:ext>
          </c:extLst>
        </c:ser>
        <c:ser>
          <c:idx val="1"/>
          <c:order val="1"/>
          <c:tx>
            <c:v>members</c:v>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cat>
            <c:strRef>
              <c:f>Monthly_Data!$A$2:$A$13</c:f>
              <c:strCache>
                <c:ptCount val="12"/>
                <c:pt idx="0">
                  <c:v>2024-09</c:v>
                </c:pt>
                <c:pt idx="1">
                  <c:v>2024-10</c:v>
                </c:pt>
                <c:pt idx="2">
                  <c:v>2024-11</c:v>
                </c:pt>
                <c:pt idx="3">
                  <c:v>2024-12</c:v>
                </c:pt>
                <c:pt idx="4">
                  <c:v>2025-01</c:v>
                </c:pt>
                <c:pt idx="5">
                  <c:v>2025-02</c:v>
                </c:pt>
                <c:pt idx="6">
                  <c:v>2025-03</c:v>
                </c:pt>
                <c:pt idx="7">
                  <c:v>2025-04</c:v>
                </c:pt>
                <c:pt idx="8">
                  <c:v>2025-05</c:v>
                </c:pt>
                <c:pt idx="9">
                  <c:v>2025-06</c:v>
                </c:pt>
                <c:pt idx="10">
                  <c:v>2025-07</c:v>
                </c:pt>
                <c:pt idx="11">
                  <c:v>2025-08</c:v>
                </c:pt>
              </c:strCache>
            </c:strRef>
          </c:cat>
          <c:val>
            <c:numRef>
              <c:f>Monthly_Data!$C$2:$C$13</c:f>
              <c:numCache>
                <c:formatCode>General</c:formatCode>
                <c:ptCount val="12"/>
                <c:pt idx="0">
                  <c:v>415255</c:v>
                </c:pt>
                <c:pt idx="1">
                  <c:v>399820</c:v>
                </c:pt>
                <c:pt idx="2">
                  <c:v>241951</c:v>
                </c:pt>
                <c:pt idx="3">
                  <c:v>140003</c:v>
                </c:pt>
                <c:pt idx="4">
                  <c:v>114526</c:v>
                </c:pt>
                <c:pt idx="5">
                  <c:v>124139</c:v>
                </c:pt>
                <c:pt idx="6">
                  <c:v>212245</c:v>
                </c:pt>
                <c:pt idx="7">
                  <c:v>262129</c:v>
                </c:pt>
                <c:pt idx="8">
                  <c:v>319815</c:v>
                </c:pt>
                <c:pt idx="9">
                  <c:v>386771</c:v>
                </c:pt>
                <c:pt idx="10">
                  <c:v>440076</c:v>
                </c:pt>
                <c:pt idx="11">
                  <c:v>452373</c:v>
                </c:pt>
              </c:numCache>
            </c:numRef>
          </c:val>
          <c:extLst>
            <c:ext xmlns:c16="http://schemas.microsoft.com/office/drawing/2014/chart" uri="{C3380CC4-5D6E-409C-BE32-E72D297353CC}">
              <c16:uniqueId val="{00000001-63A4-4A97-9B03-5612A2A361CB}"/>
            </c:ext>
          </c:extLst>
        </c:ser>
        <c:dLbls>
          <c:showLegendKey val="0"/>
          <c:showVal val="0"/>
          <c:showCatName val="0"/>
          <c:showSerName val="0"/>
          <c:showPercent val="0"/>
          <c:showBubbleSize val="0"/>
        </c:dLbls>
        <c:gapWidth val="164"/>
        <c:overlap val="-22"/>
        <c:axId val="757174960"/>
        <c:axId val="757175440"/>
      </c:barChart>
      <c:catAx>
        <c:axId val="757174960"/>
        <c:scaling>
          <c:orientation val="minMax"/>
        </c:scaling>
        <c:delete val="0"/>
        <c:axPos val="b"/>
        <c:title>
          <c:tx>
            <c:rich>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Month</a:t>
                </a:r>
              </a:p>
            </c:rich>
          </c:tx>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757175440"/>
        <c:crosses val="autoZero"/>
        <c:auto val="1"/>
        <c:lblAlgn val="ctr"/>
        <c:lblOffset val="100"/>
        <c:noMultiLvlLbl val="0"/>
      </c:catAx>
      <c:valAx>
        <c:axId val="757175440"/>
        <c:scaling>
          <c:orientation val="minMax"/>
        </c:scaling>
        <c:delete val="0"/>
        <c:axPos val="l"/>
        <c:majorGridlines>
          <c:spPr>
            <a:ln>
              <a:solidFill>
                <a:schemeClr val="tx1">
                  <a:lumMod val="15000"/>
                  <a:lumOff val="85000"/>
                </a:schemeClr>
              </a:solidFill>
            </a:ln>
            <a:effectLst/>
          </c:spPr>
        </c:majorGridlines>
        <c:title>
          <c:tx>
            <c:rich>
              <a:bodyPr rot="0" spcFirstLastPara="1" vertOverflow="ellipsis"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Ride count K</a:t>
                </a:r>
              </a:p>
            </c:rich>
          </c:tx>
          <c:layout>
            <c:manualLayout>
              <c:xMode val="edge"/>
              <c:yMode val="edge"/>
              <c:x val="3.1029371113832437E-2"/>
              <c:y val="6.5529729016684066E-2"/>
            </c:manualLayout>
          </c:layout>
          <c:overlay val="0"/>
          <c:spPr>
            <a:noFill/>
            <a:ln>
              <a:noFill/>
            </a:ln>
            <a:effectLst/>
          </c:spPr>
          <c:txPr>
            <a:bodyPr rot="0" spcFirstLastPara="1" vertOverflow="ellipsis"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757174960"/>
        <c:crosses val="autoZero"/>
        <c:crossBetween val="between"/>
        <c:majorUnit val="25000"/>
        <c:dispUnits>
          <c:builtInUnit val="thousands"/>
        </c:dispUnits>
      </c:valAx>
      <c:spPr>
        <a:noFill/>
        <a:ln>
          <a:noFill/>
        </a:ln>
        <a:effectLst/>
      </c:spPr>
    </c:plotArea>
    <c:legend>
      <c:legendPos val="t"/>
      <c:layout>
        <c:manualLayout>
          <c:xMode val="edge"/>
          <c:yMode val="edge"/>
          <c:x val="0.70798948537187634"/>
          <c:y val="6.8099743113497507E-2"/>
          <c:w val="0.25030212176674516"/>
          <c:h val="4.279281453198993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sz="11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1" i="0" u="none" strike="noStrike" kern="1200" cap="none" spc="150" baseline="0">
                <a:solidFill>
                  <a:schemeClr val="tx2"/>
                </a:solidFill>
                <a:latin typeface="Calibri" panose="020F0502020204030204" pitchFamily="34" charset="0"/>
                <a:ea typeface="Calibri" panose="020F0502020204030204" pitchFamily="34" charset="0"/>
                <a:cs typeface="Calibri" panose="020F0502020204030204" pitchFamily="34" charset="0"/>
              </a:defRPr>
            </a:pPr>
            <a:r>
              <a:rPr lang="en-US" sz="1500" cap="none" baseline="0" dirty="0">
                <a:solidFill>
                  <a:schemeClr val="tx2"/>
                </a:solidFill>
              </a:rPr>
              <a:t>Casuals dominate ride duration throughout the year</a:t>
            </a:r>
          </a:p>
        </c:rich>
      </c:tx>
      <c:layout>
        <c:manualLayout>
          <c:xMode val="edge"/>
          <c:yMode val="edge"/>
          <c:x val="2.7343721119367139E-2"/>
          <c:y val="1.2135922330097087E-2"/>
        </c:manualLayout>
      </c:layout>
      <c:overlay val="0"/>
      <c:spPr>
        <a:noFill/>
        <a:ln>
          <a:noFill/>
        </a:ln>
        <a:effectLst/>
      </c:spPr>
      <c:txPr>
        <a:bodyPr rot="0" spcFirstLastPara="1" vertOverflow="ellipsis" vert="horz" wrap="square" anchor="ctr" anchorCtr="1"/>
        <a:lstStyle/>
        <a:p>
          <a:pPr>
            <a:defRPr sz="1500" b="1" i="0" u="none" strike="noStrike" kern="1200" cap="none" spc="150" baseline="0">
              <a:solidFill>
                <a:schemeClr val="tx2"/>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0.11788076215637405"/>
          <c:y val="0.14148659561725613"/>
          <c:w val="0.86598080369183017"/>
          <c:h val="0.72738890888273899"/>
        </c:manualLayout>
      </c:layout>
      <c:barChart>
        <c:barDir val="col"/>
        <c:grouping val="clustered"/>
        <c:varyColors val="0"/>
        <c:ser>
          <c:idx val="0"/>
          <c:order val="0"/>
          <c:tx>
            <c:v>casuals</c:v>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cat>
            <c:strRef>
              <c:f>Monthly_Data!$A$2:$A$13</c:f>
              <c:strCache>
                <c:ptCount val="12"/>
                <c:pt idx="0">
                  <c:v>2024-09</c:v>
                </c:pt>
                <c:pt idx="1">
                  <c:v>2024-10</c:v>
                </c:pt>
                <c:pt idx="2">
                  <c:v>2024-11</c:v>
                </c:pt>
                <c:pt idx="3">
                  <c:v>2024-12</c:v>
                </c:pt>
                <c:pt idx="4">
                  <c:v>2025-01</c:v>
                </c:pt>
                <c:pt idx="5">
                  <c:v>2025-02</c:v>
                </c:pt>
                <c:pt idx="6">
                  <c:v>2025-03</c:v>
                </c:pt>
                <c:pt idx="7">
                  <c:v>2025-04</c:v>
                </c:pt>
                <c:pt idx="8">
                  <c:v>2025-05</c:v>
                </c:pt>
                <c:pt idx="9">
                  <c:v>2025-06</c:v>
                </c:pt>
                <c:pt idx="10">
                  <c:v>2025-07</c:v>
                </c:pt>
                <c:pt idx="11">
                  <c:v>2025-08</c:v>
                </c:pt>
              </c:strCache>
            </c:strRef>
          </c:cat>
          <c:val>
            <c:numRef>
              <c:f>Monthly_Data!$F$2:$F$13</c:f>
              <c:numCache>
                <c:formatCode>h:mm:ss</c:formatCode>
                <c:ptCount val="12"/>
                <c:pt idx="0">
                  <c:v>1.6979166666666667E-2</c:v>
                </c:pt>
                <c:pt idx="1">
                  <c:v>1.6157407407407409E-2</c:v>
                </c:pt>
                <c:pt idx="2">
                  <c:v>1.3483796296296296E-2</c:v>
                </c:pt>
                <c:pt idx="3">
                  <c:v>1.2222222222222223E-2</c:v>
                </c:pt>
                <c:pt idx="4">
                  <c:v>1.0150462962962964E-2</c:v>
                </c:pt>
                <c:pt idx="5">
                  <c:v>1.0173611111111111E-2</c:v>
                </c:pt>
                <c:pt idx="6">
                  <c:v>1.443287037037037E-2</c:v>
                </c:pt>
                <c:pt idx="7">
                  <c:v>1.5046296296296295E-2</c:v>
                </c:pt>
                <c:pt idx="8">
                  <c:v>1.6805555555555556E-2</c:v>
                </c:pt>
                <c:pt idx="9">
                  <c:v>1.7627314814814814E-2</c:v>
                </c:pt>
                <c:pt idx="10">
                  <c:v>1.6944444444444446E-2</c:v>
                </c:pt>
                <c:pt idx="11">
                  <c:v>1.6238425925925927E-2</c:v>
                </c:pt>
              </c:numCache>
            </c:numRef>
          </c:val>
          <c:extLst>
            <c:ext xmlns:c16="http://schemas.microsoft.com/office/drawing/2014/chart" uri="{C3380CC4-5D6E-409C-BE32-E72D297353CC}">
              <c16:uniqueId val="{00000000-76BA-4434-9011-511836250B42}"/>
            </c:ext>
          </c:extLst>
        </c:ser>
        <c:ser>
          <c:idx val="1"/>
          <c:order val="1"/>
          <c:tx>
            <c:v>members</c:v>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cat>
            <c:strRef>
              <c:f>Monthly_Data!$A$2:$A$13</c:f>
              <c:strCache>
                <c:ptCount val="12"/>
                <c:pt idx="0">
                  <c:v>2024-09</c:v>
                </c:pt>
                <c:pt idx="1">
                  <c:v>2024-10</c:v>
                </c:pt>
                <c:pt idx="2">
                  <c:v>2024-11</c:v>
                </c:pt>
                <c:pt idx="3">
                  <c:v>2024-12</c:v>
                </c:pt>
                <c:pt idx="4">
                  <c:v>2025-01</c:v>
                </c:pt>
                <c:pt idx="5">
                  <c:v>2025-02</c:v>
                </c:pt>
                <c:pt idx="6">
                  <c:v>2025-03</c:v>
                </c:pt>
                <c:pt idx="7">
                  <c:v>2025-04</c:v>
                </c:pt>
                <c:pt idx="8">
                  <c:v>2025-05</c:v>
                </c:pt>
                <c:pt idx="9">
                  <c:v>2025-06</c:v>
                </c:pt>
                <c:pt idx="10">
                  <c:v>2025-07</c:v>
                </c:pt>
                <c:pt idx="11">
                  <c:v>2025-08</c:v>
                </c:pt>
              </c:strCache>
            </c:strRef>
          </c:cat>
          <c:val>
            <c:numRef>
              <c:f>Monthly_Data!$G$2:$G$13</c:f>
              <c:numCache>
                <c:formatCode>h:mm:ss</c:formatCode>
                <c:ptCount val="12"/>
                <c:pt idx="0">
                  <c:v>8.86574074074074E-3</c:v>
                </c:pt>
                <c:pt idx="1">
                  <c:v>8.3217592592592596E-3</c:v>
                </c:pt>
                <c:pt idx="2">
                  <c:v>7.7083333333333335E-3</c:v>
                </c:pt>
                <c:pt idx="3">
                  <c:v>7.4652777777777781E-3</c:v>
                </c:pt>
                <c:pt idx="4">
                  <c:v>6.9907407407407409E-3</c:v>
                </c:pt>
                <c:pt idx="5">
                  <c:v>6.9791666666666665E-3</c:v>
                </c:pt>
                <c:pt idx="6">
                  <c:v>7.8009259259259256E-3</c:v>
                </c:pt>
                <c:pt idx="7">
                  <c:v>7.8703703703703696E-3</c:v>
                </c:pt>
                <c:pt idx="8">
                  <c:v>8.4259259259259253E-3</c:v>
                </c:pt>
                <c:pt idx="9">
                  <c:v>8.9930555555555562E-3</c:v>
                </c:pt>
                <c:pt idx="10">
                  <c:v>9.2708333333333341E-3</c:v>
                </c:pt>
                <c:pt idx="11">
                  <c:v>9.0856481481481483E-3</c:v>
                </c:pt>
              </c:numCache>
            </c:numRef>
          </c:val>
          <c:extLst>
            <c:ext xmlns:c16="http://schemas.microsoft.com/office/drawing/2014/chart" uri="{C3380CC4-5D6E-409C-BE32-E72D297353CC}">
              <c16:uniqueId val="{00000001-76BA-4434-9011-511836250B42}"/>
            </c:ext>
          </c:extLst>
        </c:ser>
        <c:dLbls>
          <c:showLegendKey val="0"/>
          <c:showVal val="0"/>
          <c:showCatName val="0"/>
          <c:showSerName val="0"/>
          <c:showPercent val="0"/>
          <c:showBubbleSize val="0"/>
        </c:dLbls>
        <c:gapWidth val="164"/>
        <c:overlap val="-22"/>
        <c:axId val="757174960"/>
        <c:axId val="757175440"/>
      </c:barChart>
      <c:catAx>
        <c:axId val="757174960"/>
        <c:scaling>
          <c:orientation val="minMax"/>
        </c:scaling>
        <c:delete val="0"/>
        <c:axPos val="b"/>
        <c:title>
          <c:tx>
            <c:rich>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Month</a:t>
                </a:r>
              </a:p>
            </c:rich>
          </c:tx>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757175440"/>
        <c:crosses val="autoZero"/>
        <c:auto val="1"/>
        <c:lblAlgn val="ctr"/>
        <c:lblOffset val="100"/>
        <c:noMultiLvlLbl val="0"/>
      </c:catAx>
      <c:valAx>
        <c:axId val="757175440"/>
        <c:scaling>
          <c:orientation val="minMax"/>
          <c:max val="1.9444444444444004E-2"/>
          <c:min val="0"/>
        </c:scaling>
        <c:delete val="0"/>
        <c:axPos val="l"/>
        <c:majorGridlines>
          <c:spPr>
            <a:ln>
              <a:solidFill>
                <a:schemeClr val="tx1">
                  <a:lumMod val="15000"/>
                  <a:lumOff val="85000"/>
                </a:schemeClr>
              </a:solidFill>
            </a:ln>
            <a:effectLst/>
          </c:spPr>
        </c:majorGridlines>
        <c:title>
          <c:tx>
            <c:rich>
              <a:bodyPr rot="0" spcFirstLastPara="1" vertOverflow="ellipsis"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Avg duration h:m:s</a:t>
                </a:r>
              </a:p>
            </c:rich>
          </c:tx>
          <c:layout>
            <c:manualLayout>
              <c:xMode val="edge"/>
              <c:yMode val="edge"/>
              <c:x val="2.9342723004694836E-2"/>
              <c:y val="6.0762269704151058E-2"/>
            </c:manualLayout>
          </c:layout>
          <c:overlay val="0"/>
          <c:spPr>
            <a:noFill/>
            <a:ln>
              <a:noFill/>
            </a:ln>
            <a:effectLst/>
          </c:spPr>
          <c:txPr>
            <a:bodyPr rot="0" spcFirstLastPara="1" vertOverflow="ellipsis"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h:mm:ss"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757174960"/>
        <c:crosses val="autoZero"/>
        <c:crossBetween val="between"/>
        <c:majorUnit val="1.3888888888000002E-3"/>
      </c:valAx>
      <c:spPr>
        <a:noFill/>
        <a:ln>
          <a:noFill/>
        </a:ln>
        <a:effectLst/>
      </c:spPr>
    </c:plotArea>
    <c:legend>
      <c:legendPos val="t"/>
      <c:layout>
        <c:manualLayout>
          <c:xMode val="edge"/>
          <c:yMode val="edge"/>
          <c:x val="0.69390752129247213"/>
          <c:y val="7.4991646247659915E-2"/>
          <c:w val="0.2535003909306458"/>
          <c:h val="3.9028457304487417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sz="11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37">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38100" cap="flat" cmpd="dbl" algn="ctr">
        <a:solidFill>
          <a:schemeClr val="phClr"/>
        </a:solidFill>
        <a:miter lim="800000"/>
      </a:ln>
    </cs:spPr>
  </cs:dataPointLine>
  <cs:dataPointMarker>
    <cs:lnRef idx="0">
      <cs:styleClr val="auto"/>
    </cs:lnRef>
    <cs:fillRef idx="0">
      <cs:styleClr val="auto"/>
    </cs:fillRef>
    <cs:effectRef idx="0"/>
    <cs:fontRef idx="minor">
      <a:schemeClr val="tx1"/>
    </cs:fontRef>
    <cs:spPr>
      <a:solidFill>
        <a:schemeClr val="phClr"/>
      </a:solidFill>
      <a:ln w="9525" cap="flat" cmpd="sng" algn="ctr">
        <a:solidFill>
          <a:schemeClr val="lt1"/>
        </a:solidFill>
        <a:round/>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tx1"/>
    </cs:fontRef>
    <cs:spPr>
      <a:ln w="9525">
        <a:solidFill>
          <a:schemeClr val="tx1">
            <a:lumMod val="35000"/>
            <a:lumOff val="65000"/>
          </a:schemeClr>
        </a:solidFill>
      </a:ln>
    </cs:spPr>
  </cs:dropLine>
  <cs:errorBar>
    <cs:lnRef idx="0"/>
    <cs:fillRef idx="0"/>
    <cs:effectRef idx="0"/>
    <cs:fontRef idx="minor">
      <a:schemeClr val="tx1"/>
    </cs:fontRef>
    <cs:spPr>
      <a:ln w="9525">
        <a:solidFill>
          <a:schemeClr val="tx1">
            <a:lumMod val="65000"/>
            <a:lumOff val="35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alpha val="32000"/>
          </a:schemeClr>
        </a:solidFill>
        <a:round/>
      </a:ln>
    </cs:spPr>
  </cs:gridlineMajor>
  <cs:gridlineMinor>
    <cs:lnRef idx="0"/>
    <cs:fillRef idx="0"/>
    <cs:effectRef idx="0"/>
    <cs:fontRef idx="minor">
      <a:schemeClr val="tx1"/>
    </cs:fontRef>
    <cs:spPr>
      <a:ln>
        <a:solidFill>
          <a:schemeClr val="tx1">
            <a:lumMod val="5000"/>
            <a:lumOff val="95000"/>
            <a:alpha val="32000"/>
          </a:schemeClr>
        </a:solidFill>
      </a:ln>
    </cs:spPr>
  </cs:gridlineMinor>
  <cs:hiLoLine>
    <cs:lnRef idx="0"/>
    <cs:fillRef idx="0"/>
    <cs:effectRef idx="0"/>
    <cs:fontRef idx="minor">
      <a:schemeClr val="tx1"/>
    </cs:fontRef>
    <cs:spPr>
      <a:ln w="9525">
        <a:solidFill>
          <a:schemeClr val="tx1"/>
        </a:solidFill>
      </a:ln>
    </cs:spPr>
  </cs:hiLoLine>
  <cs:leaderLine>
    <cs:lnRef idx="0"/>
    <cs:fillRef idx="0"/>
    <cs:effectRef idx="0"/>
    <cs:fontRef idx="minor">
      <a:schemeClr val="tx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cs:fontRef>
    <cs:spPr>
      <a:ln w="3175" cap="flat" cmpd="sng" algn="ctr">
        <a:solidFill>
          <a:schemeClr val="tx1">
            <a:lumMod val="15000"/>
            <a:lumOff val="85000"/>
          </a:schemeClr>
        </a:solidFill>
        <a:round/>
        <a:tailEnd type="none" w="med" len="lg"/>
      </a:ln>
    </cs:spPr>
    <cs:defRPr sz="900" kern="1200"/>
  </cs:seriesAxis>
  <cs:seriesLine>
    <cs:lnRef idx="0"/>
    <cs:fillRef idx="0"/>
    <cs:effectRef idx="0"/>
    <cs:fontRef idx="minor">
      <a:schemeClr val="tx1"/>
    </cs:fontRef>
    <cs:spPr>
      <a:ln w="9525">
        <a:solidFill>
          <a:schemeClr val="tx1">
            <a:lumMod val="35000"/>
            <a:lumOff val="65000"/>
          </a:schemeClr>
        </a:solidFill>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tx1"/>
    </cs:fontRef>
    <cs:spPr>
      <a:ln w="12700" cap="rnd"/>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9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37">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38100" cap="flat" cmpd="dbl" algn="ctr">
        <a:solidFill>
          <a:schemeClr val="phClr"/>
        </a:solidFill>
        <a:miter lim="800000"/>
      </a:ln>
    </cs:spPr>
  </cs:dataPointLine>
  <cs:dataPointMarker>
    <cs:lnRef idx="0">
      <cs:styleClr val="auto"/>
    </cs:lnRef>
    <cs:fillRef idx="0">
      <cs:styleClr val="auto"/>
    </cs:fillRef>
    <cs:effectRef idx="0"/>
    <cs:fontRef idx="minor">
      <a:schemeClr val="tx1"/>
    </cs:fontRef>
    <cs:spPr>
      <a:solidFill>
        <a:schemeClr val="phClr"/>
      </a:solidFill>
      <a:ln w="9525" cap="flat" cmpd="sng" algn="ctr">
        <a:solidFill>
          <a:schemeClr val="lt1"/>
        </a:solidFill>
        <a:round/>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tx1"/>
    </cs:fontRef>
    <cs:spPr>
      <a:ln w="9525">
        <a:solidFill>
          <a:schemeClr val="tx1">
            <a:lumMod val="35000"/>
            <a:lumOff val="65000"/>
          </a:schemeClr>
        </a:solidFill>
      </a:ln>
    </cs:spPr>
  </cs:dropLine>
  <cs:errorBar>
    <cs:lnRef idx="0"/>
    <cs:fillRef idx="0"/>
    <cs:effectRef idx="0"/>
    <cs:fontRef idx="minor">
      <a:schemeClr val="tx1"/>
    </cs:fontRef>
    <cs:spPr>
      <a:ln w="9525">
        <a:solidFill>
          <a:schemeClr val="tx1">
            <a:lumMod val="65000"/>
            <a:lumOff val="35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alpha val="32000"/>
          </a:schemeClr>
        </a:solidFill>
        <a:round/>
      </a:ln>
    </cs:spPr>
  </cs:gridlineMajor>
  <cs:gridlineMinor>
    <cs:lnRef idx="0"/>
    <cs:fillRef idx="0"/>
    <cs:effectRef idx="0"/>
    <cs:fontRef idx="minor">
      <a:schemeClr val="tx1"/>
    </cs:fontRef>
    <cs:spPr>
      <a:ln>
        <a:solidFill>
          <a:schemeClr val="tx1">
            <a:lumMod val="5000"/>
            <a:lumOff val="95000"/>
            <a:alpha val="32000"/>
          </a:schemeClr>
        </a:solidFill>
      </a:ln>
    </cs:spPr>
  </cs:gridlineMinor>
  <cs:hiLoLine>
    <cs:lnRef idx="0"/>
    <cs:fillRef idx="0"/>
    <cs:effectRef idx="0"/>
    <cs:fontRef idx="minor">
      <a:schemeClr val="tx1"/>
    </cs:fontRef>
    <cs:spPr>
      <a:ln w="9525">
        <a:solidFill>
          <a:schemeClr val="tx1"/>
        </a:solidFill>
      </a:ln>
    </cs:spPr>
  </cs:hiLoLine>
  <cs:leaderLine>
    <cs:lnRef idx="0"/>
    <cs:fillRef idx="0"/>
    <cs:effectRef idx="0"/>
    <cs:fontRef idx="minor">
      <a:schemeClr val="tx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cs:fontRef>
    <cs:spPr>
      <a:ln w="3175" cap="flat" cmpd="sng" algn="ctr">
        <a:solidFill>
          <a:schemeClr val="tx1">
            <a:lumMod val="15000"/>
            <a:lumOff val="85000"/>
          </a:schemeClr>
        </a:solidFill>
        <a:round/>
        <a:tailEnd type="none" w="med" len="lg"/>
      </a:ln>
    </cs:spPr>
    <cs:defRPr sz="900" kern="1200"/>
  </cs:seriesAxis>
  <cs:seriesLine>
    <cs:lnRef idx="0"/>
    <cs:fillRef idx="0"/>
    <cs:effectRef idx="0"/>
    <cs:fontRef idx="minor">
      <a:schemeClr val="tx1"/>
    </cs:fontRef>
    <cs:spPr>
      <a:ln w="9525">
        <a:solidFill>
          <a:schemeClr val="tx1">
            <a:lumMod val="35000"/>
            <a:lumOff val="65000"/>
          </a:schemeClr>
        </a:solidFill>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tx1"/>
    </cs:fontRef>
    <cs:spPr>
      <a:ln w="12700" cap="rnd"/>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9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9244FC-702D-4844-AF4C-F53B38083855}"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FF8E0C-B677-4826-B899-7E610759A175}" type="slidenum">
              <a:rPr lang="en-US" smtClean="0"/>
              <a:t>‹#›</a:t>
            </a:fld>
            <a:endParaRPr lang="en-US"/>
          </a:p>
        </p:txBody>
      </p:sp>
    </p:spTree>
    <p:extLst>
      <p:ext uri="{BB962C8B-B14F-4D97-AF65-F5344CB8AC3E}">
        <p14:creationId xmlns:p14="http://schemas.microsoft.com/office/powerpoint/2010/main" val="4237543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FF8E0C-B677-4826-B899-7E610759A175}" type="slidenum">
              <a:rPr lang="en-US" smtClean="0"/>
              <a:t>4</a:t>
            </a:fld>
            <a:endParaRPr lang="en-US"/>
          </a:p>
        </p:txBody>
      </p:sp>
    </p:spTree>
    <p:extLst>
      <p:ext uri="{BB962C8B-B14F-4D97-AF65-F5344CB8AC3E}">
        <p14:creationId xmlns:p14="http://schemas.microsoft.com/office/powerpoint/2010/main" val="855321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7AA2EE46-D3E8-41C2-B33F-D2B21CB2C796}" type="datetime1">
              <a:rPr lang="en-US" smtClean="0"/>
              <a:t>2/26/2026</a:t>
            </a:fld>
            <a:endParaRPr lang="en-US" dirty="0"/>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465858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7663A0C6-6301-427D-8C2D-BAC60831961E}" type="datetime1">
              <a:rPr lang="en-US" smtClean="0"/>
              <a:t>2/26/2026</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249648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E92D224A-D94E-436B-83B1-9FC85A17AAA0}" type="datetime1">
              <a:rPr lang="en-US" smtClean="0"/>
              <a:t>2/26/2026</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984194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EA0604AA-7D9F-42F0-B304-E48BA75D1E03}" type="datetime1">
              <a:rPr lang="en-US" smtClean="0"/>
              <a:t>2/26/2026</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55752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D40CF0ED-4C93-4EA9-BB97-F497D2D604CD}" type="datetime1">
              <a:rPr lang="en-US" smtClean="0"/>
              <a:t>2/26/2026</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76649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C74A4018-89D9-43DF-833F-B21C647552C9}" type="datetime1">
              <a:rPr lang="en-US" smtClean="0"/>
              <a:t>2/26/2026</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584184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C5AF32B2-C3D4-489F-9830-E9FB8EBFD03A}" type="datetime1">
              <a:rPr lang="en-US" smtClean="0"/>
              <a:t>2/26/2026</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0174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C2CF5634-55D2-4C31-B071-564705BC3C31}" type="datetime1">
              <a:rPr lang="en-US" smtClean="0"/>
              <a:t>2/26/2026</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2226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B9912DF9-E684-4133-9561-CDFE9FA774CA}" type="datetime1">
              <a:rPr lang="en-US" smtClean="0"/>
              <a:t>2/26/2026</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160244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1CAAD339-AEE8-4C93-954B-2189816F183B}" type="datetime1">
              <a:rPr lang="en-US" smtClean="0"/>
              <a:t>2/26/2026</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35870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449A58F9-D7C7-41FF-8925-6D3CBB04D5BA}" type="datetime1">
              <a:rPr lang="en-US" smtClean="0"/>
              <a:t>2/26/2026</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097955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92F07E96-699F-4012-8FD6-0EAAC6A0C3B5}" type="datetime1">
              <a:rPr lang="en-US" smtClean="0"/>
              <a:t>2/26/2026</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9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pic>
        <p:nvPicPr>
          <p:cNvPr id="27" name="Graphic 26" descr="Cycling">
            <a:extLst>
              <a:ext uri="{FF2B5EF4-FFF2-40B4-BE49-F238E27FC236}">
                <a16:creationId xmlns:a16="http://schemas.microsoft.com/office/drawing/2014/main" id="{010662ED-7720-718D-D5DE-C032B53AAF6C}"/>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1579182" y="255731"/>
            <a:ext cx="457200" cy="457200"/>
          </a:xfrm>
          <a:prstGeom prst="rect">
            <a:avLst/>
          </a:prstGeom>
        </p:spPr>
      </p:pic>
      <p:pic>
        <p:nvPicPr>
          <p:cNvPr id="28" name="Graphic 27" descr="Cycling">
            <a:extLst>
              <a:ext uri="{FF2B5EF4-FFF2-40B4-BE49-F238E27FC236}">
                <a16:creationId xmlns:a16="http://schemas.microsoft.com/office/drawing/2014/main" id="{68FF95D0-BCF2-6526-8E35-D3E720A3E929}"/>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69266" y="6151563"/>
            <a:ext cx="457200" cy="457200"/>
          </a:xfrm>
          <a:prstGeom prst="rect">
            <a:avLst/>
          </a:prstGeom>
        </p:spPr>
      </p:pic>
    </p:spTree>
    <p:extLst>
      <p:ext uri="{BB962C8B-B14F-4D97-AF65-F5344CB8AC3E}">
        <p14:creationId xmlns:p14="http://schemas.microsoft.com/office/powerpoint/2010/main" val="10171520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9B8B6-0736-36D0-70F9-BF4B4CE5B785}"/>
              </a:ext>
            </a:extLst>
          </p:cNvPr>
          <p:cNvSpPr>
            <a:spLocks noGrp="1"/>
          </p:cNvSpPr>
          <p:nvPr>
            <p:ph type="ctr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Recreation vs Transportation</a:t>
            </a:r>
          </a:p>
        </p:txBody>
      </p:sp>
      <p:sp>
        <p:nvSpPr>
          <p:cNvPr id="3" name="Subtitle 2">
            <a:extLst>
              <a:ext uri="{FF2B5EF4-FFF2-40B4-BE49-F238E27FC236}">
                <a16:creationId xmlns:a16="http://schemas.microsoft.com/office/drawing/2014/main" id="{FE25266C-5629-7556-4B9E-0ADF01117777}"/>
              </a:ext>
            </a:extLst>
          </p:cNvPr>
          <p:cNvSpPr>
            <a:spLocks noGrp="1"/>
          </p:cNvSpPr>
          <p:nvPr>
            <p:ph type="subTitle" idx="1"/>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A Tale of Two Bike Share Users</a:t>
            </a:r>
          </a:p>
        </p:txBody>
      </p:sp>
    </p:spTree>
    <p:extLst>
      <p:ext uri="{BB962C8B-B14F-4D97-AF65-F5344CB8AC3E}">
        <p14:creationId xmlns:p14="http://schemas.microsoft.com/office/powerpoint/2010/main" val="2523955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0602A-8D4C-8389-C1E9-DE9F3D136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CAC29-6632-5A5F-C688-9CDEEBF29408}"/>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Purpose</a:t>
            </a:r>
          </a:p>
        </p:txBody>
      </p:sp>
      <p:sp>
        <p:nvSpPr>
          <p:cNvPr id="3" name="Content Placeholder 2">
            <a:extLst>
              <a:ext uri="{FF2B5EF4-FFF2-40B4-BE49-F238E27FC236}">
                <a16:creationId xmlns:a16="http://schemas.microsoft.com/office/drawing/2014/main" id="{52231D85-A59F-D816-5C51-41E69295EC69}"/>
              </a:ext>
            </a:extLst>
          </p:cNvPr>
          <p:cNvSpPr>
            <a:spLocks noGrp="1"/>
          </p:cNvSpPr>
          <p:nvPr>
            <p:ph idx="1"/>
          </p:nvPr>
        </p:nvSpPr>
        <p:spPr/>
        <p:txBody>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Chicago’s bike share serves 5.5 million annual trips, but not all riders are the same. This analysis examines 12 months of ridership data (Sept 2024 – Aug 2025) to answer the following:</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How do members and casual riders actually use this two-wheeled transportation system differently?</a:t>
            </a:r>
          </a:p>
        </p:txBody>
      </p:sp>
      <p:sp>
        <p:nvSpPr>
          <p:cNvPr id="4" name="Slide Number Placeholder 3">
            <a:extLst>
              <a:ext uri="{FF2B5EF4-FFF2-40B4-BE49-F238E27FC236}">
                <a16:creationId xmlns:a16="http://schemas.microsoft.com/office/drawing/2014/main" id="{188F984A-9AE5-2D72-FB34-DD3EAC413647}"/>
              </a:ext>
            </a:extLst>
          </p:cNvPr>
          <p:cNvSpPr>
            <a:spLocks noGrp="1"/>
          </p:cNvSpPr>
          <p:nvPr>
            <p:ph type="sldNum" sz="quarter" idx="12"/>
          </p:nvPr>
        </p:nvSpPr>
        <p:spPr/>
        <p:txBody>
          <a:bodyPr/>
          <a:lstStyle/>
          <a:p>
            <a:fld id="{73B850FF-6169-4056-8077-06FFA93A5366}" type="slidenum">
              <a:rPr lang="en-US" smtClean="0"/>
              <a:t>2</a:t>
            </a:fld>
            <a:endParaRPr lang="en-US"/>
          </a:p>
        </p:txBody>
      </p:sp>
    </p:spTree>
    <p:extLst>
      <p:ext uri="{BB962C8B-B14F-4D97-AF65-F5344CB8AC3E}">
        <p14:creationId xmlns:p14="http://schemas.microsoft.com/office/powerpoint/2010/main" val="2663722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3A60B-0BB3-AFCA-95F6-C29940CE02E0}"/>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Contents</a:t>
            </a:r>
          </a:p>
        </p:txBody>
      </p:sp>
      <p:sp>
        <p:nvSpPr>
          <p:cNvPr id="3" name="Content Placeholder 2">
            <a:extLst>
              <a:ext uri="{FF2B5EF4-FFF2-40B4-BE49-F238E27FC236}">
                <a16:creationId xmlns:a16="http://schemas.microsoft.com/office/drawing/2014/main" id="{2B4842FE-F5BE-5456-58E0-B8FFA0549939}"/>
              </a:ext>
            </a:extLst>
          </p:cNvPr>
          <p:cNvSpPr>
            <a:spLocks noGrp="1"/>
          </p:cNvSpPr>
          <p:nvPr>
            <p:ph sz="half" idx="1"/>
          </p:nvPr>
        </p:nvSpPr>
        <p:spPr/>
        <p:txBody>
          <a:bodyPr>
            <a:normAutofit fontScale="70000" lnSpcReduction="20000"/>
          </a:bodyPr>
          <a:lstStyle/>
          <a:p>
            <a:pPr marL="514350" indent="-514350">
              <a:buFont typeface="+mj-lt"/>
              <a:buAutoNum type="arabicPeriod" startAt="4"/>
            </a:pPr>
            <a:r>
              <a:rPr lang="en-US" dirty="0">
                <a:latin typeface="Calibri" panose="020F0502020204030204" pitchFamily="34" charset="0"/>
                <a:ea typeface="Calibri" panose="020F0502020204030204" pitchFamily="34" charset="0"/>
                <a:cs typeface="Calibri" panose="020F0502020204030204" pitchFamily="34" charset="0"/>
              </a:rPr>
              <a:t>Classic or Electric</a:t>
            </a:r>
          </a:p>
          <a:p>
            <a:pPr marL="514350" indent="-514350">
              <a:buFont typeface="+mj-lt"/>
              <a:buAutoNum type="arabicPeriod" startAt="4"/>
            </a:pPr>
            <a:r>
              <a:rPr lang="en-US" dirty="0">
                <a:latin typeface="Calibri" panose="020F0502020204030204" pitchFamily="34" charset="0"/>
                <a:ea typeface="Calibri" panose="020F0502020204030204" pitchFamily="34" charset="0"/>
                <a:cs typeface="Calibri" panose="020F0502020204030204" pitchFamily="34" charset="0"/>
              </a:rPr>
              <a:t>Casuals on Classics</a:t>
            </a:r>
          </a:p>
          <a:p>
            <a:pPr marL="514350" indent="-514350">
              <a:buFont typeface="+mj-lt"/>
              <a:buAutoNum type="arabicPeriod" startAt="4"/>
            </a:pPr>
            <a:r>
              <a:rPr lang="en-US" dirty="0">
                <a:latin typeface="Calibri" panose="020F0502020204030204" pitchFamily="34" charset="0"/>
                <a:ea typeface="Calibri" panose="020F0502020204030204" pitchFamily="34" charset="0"/>
                <a:cs typeface="Calibri" panose="020F0502020204030204" pitchFamily="34" charset="0"/>
              </a:rPr>
              <a:t>Day in the Bike Share Life</a:t>
            </a:r>
          </a:p>
          <a:p>
            <a:pPr marL="514350" indent="-514350">
              <a:buFont typeface="+mj-lt"/>
              <a:buAutoNum type="arabicPeriod" startAt="4"/>
            </a:pPr>
            <a:r>
              <a:rPr lang="en-US" dirty="0">
                <a:latin typeface="Calibri" panose="020F0502020204030204" pitchFamily="34" charset="0"/>
                <a:ea typeface="Calibri" panose="020F0502020204030204" pitchFamily="34" charset="0"/>
                <a:cs typeface="Calibri" panose="020F0502020204030204" pitchFamily="34" charset="0"/>
              </a:rPr>
              <a:t>All Day Efficiency vs Exploration</a:t>
            </a:r>
          </a:p>
          <a:p>
            <a:pPr marL="514350" indent="-514350">
              <a:buFont typeface="+mj-lt"/>
              <a:buAutoNum type="arabicPeriod" startAt="4"/>
            </a:pPr>
            <a:r>
              <a:rPr lang="en-US" dirty="0">
                <a:latin typeface="Calibri" panose="020F0502020204030204" pitchFamily="34" charset="0"/>
                <a:ea typeface="Calibri" panose="020F0502020204030204" pitchFamily="34" charset="0"/>
                <a:cs typeface="Calibri" panose="020F0502020204030204" pitchFamily="34" charset="0"/>
              </a:rPr>
              <a:t>Time Bucket Productivity</a:t>
            </a:r>
          </a:p>
          <a:p>
            <a:pPr marL="514350" indent="-514350">
              <a:buFont typeface="+mj-lt"/>
              <a:buAutoNum type="arabicPeriod" startAt="4"/>
            </a:pPr>
            <a:r>
              <a:rPr lang="en-US" dirty="0">
                <a:latin typeface="Calibri" panose="020F0502020204030204" pitchFamily="34" charset="0"/>
                <a:ea typeface="Calibri" panose="020F0502020204030204" pitchFamily="34" charset="0"/>
                <a:cs typeface="Calibri" panose="020F0502020204030204" pitchFamily="34" charset="0"/>
              </a:rPr>
              <a:t>Time Bucket Distribution</a:t>
            </a:r>
          </a:p>
          <a:p>
            <a:pPr marL="514350" indent="-514350">
              <a:buFont typeface="+mj-lt"/>
              <a:buAutoNum type="arabicPeriod" startAt="4"/>
            </a:pPr>
            <a:r>
              <a:rPr lang="en-US" dirty="0">
                <a:latin typeface="Calibri" panose="020F0502020204030204" pitchFamily="34" charset="0"/>
                <a:ea typeface="Calibri" panose="020F0502020204030204" pitchFamily="34" charset="0"/>
                <a:cs typeface="Calibri" panose="020F0502020204030204" pitchFamily="34" charset="0"/>
              </a:rPr>
              <a:t>Welcome to the Week</a:t>
            </a:r>
          </a:p>
          <a:p>
            <a:pPr marL="514350" indent="-514350">
              <a:buFont typeface="+mj-lt"/>
              <a:buAutoNum type="arabicPeriod" startAt="4"/>
            </a:pPr>
            <a:r>
              <a:rPr lang="en-US" dirty="0">
                <a:latin typeface="Calibri" panose="020F0502020204030204" pitchFamily="34" charset="0"/>
                <a:ea typeface="Calibri" panose="020F0502020204030204" pitchFamily="34" charset="0"/>
                <a:cs typeface="Calibri" panose="020F0502020204030204" pitchFamily="34" charset="0"/>
              </a:rPr>
              <a:t>7-day Leisure</a:t>
            </a:r>
          </a:p>
          <a:p>
            <a:pPr marL="514350" indent="-514350">
              <a:buFont typeface="+mj-lt"/>
              <a:buAutoNum type="arabicPeriod" startAt="4"/>
            </a:pPr>
            <a:r>
              <a:rPr lang="en-US" dirty="0">
                <a:latin typeface="Calibri" panose="020F0502020204030204" pitchFamily="34" charset="0"/>
                <a:ea typeface="Calibri" panose="020F0502020204030204" pitchFamily="34" charset="0"/>
                <a:cs typeface="Calibri" panose="020F0502020204030204" pitchFamily="34" charset="0"/>
              </a:rPr>
              <a:t>Seasonal Extremes</a:t>
            </a:r>
          </a:p>
          <a:p>
            <a:pPr marL="514350" indent="-514350">
              <a:buFont typeface="+mj-lt"/>
              <a:buAutoNum type="arabicPeriod" startAt="4"/>
            </a:pPr>
            <a:r>
              <a:rPr lang="en-US" dirty="0">
                <a:latin typeface="Calibri" panose="020F0502020204030204" pitchFamily="34" charset="0"/>
                <a:ea typeface="Calibri" panose="020F0502020204030204" pitchFamily="34" charset="0"/>
                <a:cs typeface="Calibri" panose="020F0502020204030204" pitchFamily="34" charset="0"/>
              </a:rPr>
              <a:t>Year in the Saddle</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96D00C59-ED6B-B98E-B313-343233D497E8}"/>
              </a:ext>
            </a:extLst>
          </p:cNvPr>
          <p:cNvSpPr>
            <a:spLocks noGrp="1"/>
          </p:cNvSpPr>
          <p:nvPr>
            <p:ph sz="half" idx="2"/>
          </p:nvPr>
        </p:nvSpPr>
        <p:spPr/>
        <p:txBody>
          <a:bodyPr>
            <a:normAutofit fontScale="70000" lnSpcReduction="20000"/>
          </a:bodyPr>
          <a:lstStyle/>
          <a:p>
            <a:pPr marL="514350" indent="-514350">
              <a:buFont typeface="+mj-lt"/>
              <a:buAutoNum type="arabicPeriod" startAt="14"/>
            </a:pPr>
            <a:r>
              <a:rPr lang="en-US" dirty="0">
                <a:latin typeface="Calibri" panose="020F0502020204030204" pitchFamily="34" charset="0"/>
                <a:ea typeface="Calibri" panose="020F0502020204030204" pitchFamily="34" charset="0"/>
                <a:cs typeface="Calibri" panose="020F0502020204030204" pitchFamily="34" charset="0"/>
              </a:rPr>
              <a:t>Member Conclusion: Essential Transportation</a:t>
            </a:r>
          </a:p>
          <a:p>
            <a:pPr marL="514350" indent="-514350">
              <a:buFont typeface="+mj-lt"/>
              <a:buAutoNum type="arabicPeriod" startAt="14"/>
            </a:pPr>
            <a:r>
              <a:rPr lang="en-US" dirty="0">
                <a:latin typeface="Calibri" panose="020F0502020204030204" pitchFamily="34" charset="0"/>
                <a:ea typeface="Calibri" panose="020F0502020204030204" pitchFamily="34" charset="0"/>
                <a:cs typeface="Calibri" panose="020F0502020204030204" pitchFamily="34" charset="0"/>
              </a:rPr>
              <a:t>Casuals Conclusion: Seasonal Recreation</a:t>
            </a:r>
          </a:p>
          <a:p>
            <a:pPr marL="514350" indent="-514350">
              <a:buFont typeface="+mj-lt"/>
              <a:buAutoNum type="arabicPeriod" startAt="14"/>
            </a:pPr>
            <a:r>
              <a:rPr lang="en-US" dirty="0">
                <a:latin typeface="Calibri" panose="020F0502020204030204" pitchFamily="34" charset="0"/>
                <a:ea typeface="Calibri" panose="020F0502020204030204" pitchFamily="34" charset="0"/>
                <a:cs typeface="Calibri" panose="020F0502020204030204" pitchFamily="34" charset="0"/>
              </a:rPr>
              <a:t>Key Takeaway</a:t>
            </a:r>
          </a:p>
          <a:p>
            <a:pPr marL="514350" indent="-514350">
              <a:buFont typeface="+mj-lt"/>
              <a:buAutoNum type="arabicPeriod" startAt="14"/>
            </a:pPr>
            <a:r>
              <a:rPr lang="en-US" dirty="0">
                <a:latin typeface="Calibri" panose="020F0502020204030204" pitchFamily="34" charset="0"/>
                <a:ea typeface="Calibri" panose="020F0502020204030204" pitchFamily="34" charset="0"/>
                <a:cs typeface="Calibri" panose="020F0502020204030204" pitchFamily="34" charset="0"/>
              </a:rPr>
              <a:t>Recommendations: Operational</a:t>
            </a:r>
          </a:p>
          <a:p>
            <a:pPr marL="514350" indent="-514350">
              <a:buFont typeface="+mj-lt"/>
              <a:buAutoNum type="arabicPeriod" startAt="14"/>
            </a:pPr>
            <a:r>
              <a:rPr lang="en-US" dirty="0">
                <a:latin typeface="Calibri" panose="020F0502020204030204" pitchFamily="34" charset="0"/>
                <a:ea typeface="Calibri" panose="020F0502020204030204" pitchFamily="34" charset="0"/>
                <a:cs typeface="Calibri" panose="020F0502020204030204" pitchFamily="34" charset="0"/>
              </a:rPr>
              <a:t>Recommendations: Pricing &amp; Revenue</a:t>
            </a:r>
          </a:p>
          <a:p>
            <a:pPr marL="514350" indent="-514350">
              <a:buFont typeface="+mj-lt"/>
              <a:buAutoNum type="arabicPeriod" startAt="14"/>
            </a:pPr>
            <a:r>
              <a:rPr lang="en-US" dirty="0">
                <a:latin typeface="Calibri" panose="020F0502020204030204" pitchFamily="34" charset="0"/>
                <a:ea typeface="Calibri" panose="020F0502020204030204" pitchFamily="34" charset="0"/>
                <a:cs typeface="Calibri" panose="020F0502020204030204" pitchFamily="34" charset="0"/>
              </a:rPr>
              <a:t>Recommendations: Marketing &amp; Growth</a:t>
            </a:r>
          </a:p>
          <a:p>
            <a:pPr marL="514350" indent="-514350">
              <a:buFont typeface="+mj-lt"/>
              <a:buAutoNum type="arabicPeriod" startAt="14"/>
            </a:pPr>
            <a:r>
              <a:rPr lang="en-US" dirty="0">
                <a:latin typeface="Calibri" panose="020F0502020204030204" pitchFamily="34" charset="0"/>
                <a:ea typeface="Calibri" panose="020F0502020204030204" pitchFamily="34" charset="0"/>
                <a:cs typeface="Calibri" panose="020F0502020204030204" pitchFamily="34" charset="0"/>
              </a:rPr>
              <a:t>Appendix A: Data Sources and Caveats</a:t>
            </a:r>
          </a:p>
          <a:p>
            <a:pPr marL="514350" indent="-514350">
              <a:buFont typeface="+mj-lt"/>
              <a:buAutoNum type="arabicPeriod" startAt="14"/>
            </a:pPr>
            <a:r>
              <a:rPr lang="en-US" dirty="0">
                <a:latin typeface="Calibri" panose="020F0502020204030204" pitchFamily="34" charset="0"/>
                <a:ea typeface="Calibri" panose="020F0502020204030204" pitchFamily="34" charset="0"/>
                <a:cs typeface="Calibri" panose="020F0502020204030204" pitchFamily="34" charset="0"/>
              </a:rPr>
              <a:t>Appendix B: Analysis Process</a:t>
            </a:r>
          </a:p>
          <a:p>
            <a:pPr marL="514350" indent="-514350">
              <a:buFont typeface="+mj-lt"/>
              <a:buAutoNum type="arabicPeriod" startAt="14"/>
            </a:pPr>
            <a:r>
              <a:rPr lang="en-US" dirty="0">
                <a:latin typeface="Calibri" panose="020F0502020204030204" pitchFamily="34" charset="0"/>
                <a:ea typeface="Calibri" panose="020F0502020204030204" pitchFamily="34" charset="0"/>
                <a:cs typeface="Calibri" panose="020F0502020204030204" pitchFamily="34" charset="0"/>
              </a:rPr>
              <a:t>Appendix B: Analysis Process Continued</a:t>
            </a:r>
          </a:p>
          <a:p>
            <a:pPr marL="514350" indent="-514350">
              <a:buFont typeface="+mj-lt"/>
              <a:buAutoNum type="arabicPeriod" startAt="14"/>
            </a:pPr>
            <a:r>
              <a:rPr lang="en-US" dirty="0">
                <a:latin typeface="Calibri" panose="020F0502020204030204" pitchFamily="34" charset="0"/>
                <a:ea typeface="Calibri" panose="020F0502020204030204" pitchFamily="34" charset="0"/>
                <a:cs typeface="Calibri" panose="020F0502020204030204" pitchFamily="34" charset="0"/>
              </a:rPr>
              <a:t>Appendix B: Analysis Process Continued</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2300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48C7C-675D-EC8A-E082-8B6ECFF11888}"/>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Classic or Electric</a:t>
            </a:r>
          </a:p>
        </p:txBody>
      </p:sp>
      <p:sp>
        <p:nvSpPr>
          <p:cNvPr id="3" name="Content Placeholder 2">
            <a:extLst>
              <a:ext uri="{FF2B5EF4-FFF2-40B4-BE49-F238E27FC236}">
                <a16:creationId xmlns:a16="http://schemas.microsoft.com/office/drawing/2014/main" id="{91F1A04E-CDFF-53B8-676B-DC93CC40F104}"/>
              </a:ext>
            </a:extLst>
          </p:cNvPr>
          <p:cNvSpPr>
            <a:spLocks noGrp="1"/>
          </p:cNvSpPr>
          <p:nvPr>
            <p:ph sz="half" idx="1"/>
          </p:nvPr>
        </p:nvSpPr>
        <p:spPr>
          <a:xfrm>
            <a:off x="838201" y="1825625"/>
            <a:ext cx="3668485" cy="4351338"/>
          </a:xfrm>
        </p:spPr>
        <p:txBody>
          <a:bodyPr/>
          <a:lstStyle/>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3.51M members and 1.99M casuals logged bikeshare rides between September 2024 and August 2025</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Despite members taking 1.75x more trips overall, </a:t>
            </a:r>
            <a:r>
              <a:rPr lang="en-US" sz="2000" dirty="0" err="1">
                <a:latin typeface="Calibri" panose="020F0502020204030204" pitchFamily="34" charset="0"/>
                <a:ea typeface="Calibri" panose="020F0502020204030204" pitchFamily="34" charset="0"/>
                <a:cs typeface="Calibri" panose="020F0502020204030204" pitchFamily="34" charset="0"/>
              </a:rPr>
              <a:t>ebike</a:t>
            </a:r>
            <a:r>
              <a:rPr lang="en-US" sz="2000" dirty="0">
                <a:latin typeface="Calibri" panose="020F0502020204030204" pitchFamily="34" charset="0"/>
                <a:ea typeface="Calibri" panose="020F0502020204030204" pitchFamily="34" charset="0"/>
                <a:cs typeface="Calibri" panose="020F0502020204030204" pitchFamily="34" charset="0"/>
              </a:rPr>
              <a:t> preference is nearly identical (~62%)</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Casuals chose classic bikes 38% of the time while members almost 40% of total rides</a:t>
            </a: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5" name="Content Placeholder 4">
            <a:extLst>
              <a:ext uri="{FF2B5EF4-FFF2-40B4-BE49-F238E27FC236}">
                <a16:creationId xmlns:a16="http://schemas.microsoft.com/office/drawing/2014/main" id="{3FDCE2CA-F3CA-FFD7-8DCB-29E211CCE4B1}"/>
              </a:ext>
            </a:extLst>
          </p:cNvPr>
          <p:cNvGraphicFramePr>
            <a:graphicFrameLocks noGrp="1"/>
          </p:cNvGraphicFramePr>
          <p:nvPr>
            <p:ph sz="half" idx="2"/>
            <p:extLst>
              <p:ext uri="{D42A27DB-BD31-4B8C-83A1-F6EECF244321}">
                <p14:modId xmlns:p14="http://schemas.microsoft.com/office/powerpoint/2010/main" val="1271553004"/>
              </p:ext>
            </p:extLst>
          </p:nvPr>
        </p:nvGraphicFramePr>
        <p:xfrm>
          <a:off x="4617719" y="1825625"/>
          <a:ext cx="6736081" cy="4351338"/>
        </p:xfrm>
        <a:graphic>
          <a:graphicData uri="http://schemas.openxmlformats.org/drawingml/2006/chart">
            <c:chart xmlns:c="http://schemas.openxmlformats.org/drawingml/2006/chart" xmlns:r="http://schemas.openxmlformats.org/officeDocument/2006/relationships" r:id="rId3"/>
          </a:graphicData>
        </a:graphic>
      </p:graphicFrame>
      <p:sp>
        <p:nvSpPr>
          <p:cNvPr id="4" name="Slide Number Placeholder 3">
            <a:extLst>
              <a:ext uri="{FF2B5EF4-FFF2-40B4-BE49-F238E27FC236}">
                <a16:creationId xmlns:a16="http://schemas.microsoft.com/office/drawing/2014/main" id="{592FBD05-2150-E512-3BC0-0147D5CFDE6B}"/>
              </a:ext>
            </a:extLst>
          </p:cNvPr>
          <p:cNvSpPr>
            <a:spLocks noGrp="1"/>
          </p:cNvSpPr>
          <p:nvPr>
            <p:ph type="sldNum" sz="quarter" idx="12"/>
          </p:nvPr>
        </p:nvSpPr>
        <p:spPr/>
        <p:txBody>
          <a:bodyPr/>
          <a:lstStyle/>
          <a:p>
            <a:fld id="{73B850FF-6169-4056-8077-06FFA93A5366}" type="slidenum">
              <a:rPr lang="en-US" smtClean="0"/>
              <a:t>4</a:t>
            </a:fld>
            <a:endParaRPr lang="en-US"/>
          </a:p>
        </p:txBody>
      </p:sp>
    </p:spTree>
    <p:extLst>
      <p:ext uri="{BB962C8B-B14F-4D97-AF65-F5344CB8AC3E}">
        <p14:creationId xmlns:p14="http://schemas.microsoft.com/office/powerpoint/2010/main" val="80528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69155-64F7-71A2-CB27-F2E9319A4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1E65F-D581-D121-F3F6-367B10A28467}"/>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Casuals on Classics</a:t>
            </a:r>
          </a:p>
        </p:txBody>
      </p:sp>
      <p:sp>
        <p:nvSpPr>
          <p:cNvPr id="3" name="Content Placeholder 2">
            <a:extLst>
              <a:ext uri="{FF2B5EF4-FFF2-40B4-BE49-F238E27FC236}">
                <a16:creationId xmlns:a16="http://schemas.microsoft.com/office/drawing/2014/main" id="{5730FFD9-8BF6-CB74-1FDE-A8572A911E13}"/>
              </a:ext>
            </a:extLst>
          </p:cNvPr>
          <p:cNvSpPr>
            <a:spLocks noGrp="1"/>
          </p:cNvSpPr>
          <p:nvPr>
            <p:ph sz="half" idx="1"/>
          </p:nvPr>
        </p:nvSpPr>
        <p:spPr>
          <a:xfrm>
            <a:off x="838201" y="1825625"/>
            <a:ext cx="3668485" cy="4351338"/>
          </a:xfrm>
        </p:spPr>
        <p:txBody>
          <a:bodyPr/>
          <a:lstStyle/>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Casuals add 24 minutes when using classic bikes</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Members add only 3 minutes when using classic bikes</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Members average time on classic and electric saddle are relatively balanced at 11-14 minutes</a:t>
            </a: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8" name="Content Placeholder 7">
            <a:extLst>
              <a:ext uri="{FF2B5EF4-FFF2-40B4-BE49-F238E27FC236}">
                <a16:creationId xmlns:a16="http://schemas.microsoft.com/office/drawing/2014/main" id="{6967B94C-D652-D2E8-073E-22C37918386C}"/>
              </a:ext>
            </a:extLst>
          </p:cNvPr>
          <p:cNvGraphicFramePr>
            <a:graphicFrameLocks noGrp="1"/>
          </p:cNvGraphicFramePr>
          <p:nvPr>
            <p:ph sz="half" idx="2"/>
            <p:extLst>
              <p:ext uri="{D42A27DB-BD31-4B8C-83A1-F6EECF244321}">
                <p14:modId xmlns:p14="http://schemas.microsoft.com/office/powerpoint/2010/main" val="2059971454"/>
              </p:ext>
            </p:extLst>
          </p:nvPr>
        </p:nvGraphicFramePr>
        <p:xfrm>
          <a:off x="4696097" y="1825625"/>
          <a:ext cx="6657703"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4" name="Slide Number Placeholder 3">
            <a:extLst>
              <a:ext uri="{FF2B5EF4-FFF2-40B4-BE49-F238E27FC236}">
                <a16:creationId xmlns:a16="http://schemas.microsoft.com/office/drawing/2014/main" id="{822F7115-D3FD-9806-AA1B-4D8D0092BA7F}"/>
              </a:ext>
            </a:extLst>
          </p:cNvPr>
          <p:cNvSpPr>
            <a:spLocks noGrp="1"/>
          </p:cNvSpPr>
          <p:nvPr>
            <p:ph type="sldNum" sz="quarter" idx="12"/>
          </p:nvPr>
        </p:nvSpPr>
        <p:spPr/>
        <p:txBody>
          <a:bodyPr/>
          <a:lstStyle/>
          <a:p>
            <a:fld id="{73B850FF-6169-4056-8077-06FFA93A5366}" type="slidenum">
              <a:rPr lang="en-US" smtClean="0"/>
              <a:t>5</a:t>
            </a:fld>
            <a:endParaRPr lang="en-US"/>
          </a:p>
        </p:txBody>
      </p:sp>
    </p:spTree>
    <p:extLst>
      <p:ext uri="{BB962C8B-B14F-4D97-AF65-F5344CB8AC3E}">
        <p14:creationId xmlns:p14="http://schemas.microsoft.com/office/powerpoint/2010/main" val="4088689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D57AB-E184-5D10-B7CD-54A664C23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348770-0A90-37BC-0897-D4C8479C6733}"/>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Day in the Bike Share Life</a:t>
            </a:r>
          </a:p>
        </p:txBody>
      </p:sp>
      <p:sp>
        <p:nvSpPr>
          <p:cNvPr id="3" name="Content Placeholder 2">
            <a:extLst>
              <a:ext uri="{FF2B5EF4-FFF2-40B4-BE49-F238E27FC236}">
                <a16:creationId xmlns:a16="http://schemas.microsoft.com/office/drawing/2014/main" id="{C70A0E9B-363B-AA4C-ED07-6092FAEF43DF}"/>
              </a:ext>
            </a:extLst>
          </p:cNvPr>
          <p:cNvSpPr>
            <a:spLocks noGrp="1"/>
          </p:cNvSpPr>
          <p:nvPr>
            <p:ph sz="half" idx="1"/>
          </p:nvPr>
        </p:nvSpPr>
        <p:spPr>
          <a:xfrm>
            <a:off x="838201" y="1825625"/>
            <a:ext cx="3668485" cy="4351338"/>
          </a:xfrm>
        </p:spPr>
        <p:txBody>
          <a:bodyPr/>
          <a:lstStyle/>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Members 3.5x more rides than casuals at 8AM</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5PM: Biggest member volume of the day and 2x more than casuals</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Casuals have a 1.2x (87.1K trips) advantage to members (72.4K trips) between Midnight and 3AM</a:t>
            </a: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8" name="Content Placeholder 7">
            <a:extLst>
              <a:ext uri="{FF2B5EF4-FFF2-40B4-BE49-F238E27FC236}">
                <a16:creationId xmlns:a16="http://schemas.microsoft.com/office/drawing/2014/main" id="{009CEC0F-A4A6-D54D-287B-6AFA93C43715}"/>
              </a:ext>
            </a:extLst>
          </p:cNvPr>
          <p:cNvGraphicFramePr>
            <a:graphicFrameLocks noGrp="1"/>
          </p:cNvGraphicFramePr>
          <p:nvPr>
            <p:ph sz="half" idx="2"/>
            <p:extLst>
              <p:ext uri="{D42A27DB-BD31-4B8C-83A1-F6EECF244321}">
                <p14:modId xmlns:p14="http://schemas.microsoft.com/office/powerpoint/2010/main" val="1241304173"/>
              </p:ext>
            </p:extLst>
          </p:nvPr>
        </p:nvGraphicFramePr>
        <p:xfrm>
          <a:off x="4656909" y="1825625"/>
          <a:ext cx="6696891"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4" name="Slide Number Placeholder 3">
            <a:extLst>
              <a:ext uri="{FF2B5EF4-FFF2-40B4-BE49-F238E27FC236}">
                <a16:creationId xmlns:a16="http://schemas.microsoft.com/office/drawing/2014/main" id="{7922C17D-6B2E-2B25-8BAD-D25E35839381}"/>
              </a:ext>
            </a:extLst>
          </p:cNvPr>
          <p:cNvSpPr>
            <a:spLocks noGrp="1"/>
          </p:cNvSpPr>
          <p:nvPr>
            <p:ph type="sldNum" sz="quarter" idx="12"/>
          </p:nvPr>
        </p:nvSpPr>
        <p:spPr/>
        <p:txBody>
          <a:bodyPr/>
          <a:lstStyle/>
          <a:p>
            <a:fld id="{73B850FF-6169-4056-8077-06FFA93A5366}" type="slidenum">
              <a:rPr lang="en-US" smtClean="0"/>
              <a:t>6</a:t>
            </a:fld>
            <a:endParaRPr lang="en-US"/>
          </a:p>
        </p:txBody>
      </p:sp>
    </p:spTree>
    <p:extLst>
      <p:ext uri="{BB962C8B-B14F-4D97-AF65-F5344CB8AC3E}">
        <p14:creationId xmlns:p14="http://schemas.microsoft.com/office/powerpoint/2010/main" val="4007075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6A8C3-73B8-34CB-FD66-85D1526384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38753-9B6C-2394-CDF3-7482C109DD9B}"/>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All Day Efficiency vs Exploration</a:t>
            </a:r>
          </a:p>
        </p:txBody>
      </p:sp>
      <p:sp>
        <p:nvSpPr>
          <p:cNvPr id="3" name="Content Placeholder 2">
            <a:extLst>
              <a:ext uri="{FF2B5EF4-FFF2-40B4-BE49-F238E27FC236}">
                <a16:creationId xmlns:a16="http://schemas.microsoft.com/office/drawing/2014/main" id="{5504DD0C-DA5F-178C-B2B3-40E8E66AC8CF}"/>
              </a:ext>
            </a:extLst>
          </p:cNvPr>
          <p:cNvSpPr>
            <a:spLocks noGrp="1"/>
          </p:cNvSpPr>
          <p:nvPr>
            <p:ph sz="half" idx="1"/>
          </p:nvPr>
        </p:nvSpPr>
        <p:spPr>
          <a:xfrm>
            <a:off x="838201" y="1825625"/>
            <a:ext cx="3668485" cy="4351338"/>
          </a:xfrm>
        </p:spPr>
        <p:txBody>
          <a:bodyPr/>
          <a:lstStyle/>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Members average 11-13 minute rides regardless of hour</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Casuals are more variable averaging 16-28 minute rides</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Casuals ride longest at 3AM and 10AM</a:t>
            </a: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6" name="Content Placeholder 5">
            <a:extLst>
              <a:ext uri="{FF2B5EF4-FFF2-40B4-BE49-F238E27FC236}">
                <a16:creationId xmlns:a16="http://schemas.microsoft.com/office/drawing/2014/main" id="{502AB7D9-46E8-8039-3768-8B0F0087C849}"/>
              </a:ext>
            </a:extLst>
          </p:cNvPr>
          <p:cNvGraphicFramePr>
            <a:graphicFrameLocks noGrp="1"/>
          </p:cNvGraphicFramePr>
          <p:nvPr>
            <p:ph sz="half" idx="2"/>
            <p:extLst>
              <p:ext uri="{D42A27DB-BD31-4B8C-83A1-F6EECF244321}">
                <p14:modId xmlns:p14="http://schemas.microsoft.com/office/powerpoint/2010/main" val="3535092842"/>
              </p:ext>
            </p:extLst>
          </p:nvPr>
        </p:nvGraphicFramePr>
        <p:xfrm>
          <a:off x="4741817" y="1825625"/>
          <a:ext cx="6611983"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4" name="Slide Number Placeholder 3">
            <a:extLst>
              <a:ext uri="{FF2B5EF4-FFF2-40B4-BE49-F238E27FC236}">
                <a16:creationId xmlns:a16="http://schemas.microsoft.com/office/drawing/2014/main" id="{A2DB6241-A646-7D35-1A54-FF0FC4FF8AF1}"/>
              </a:ext>
            </a:extLst>
          </p:cNvPr>
          <p:cNvSpPr>
            <a:spLocks noGrp="1"/>
          </p:cNvSpPr>
          <p:nvPr>
            <p:ph type="sldNum" sz="quarter" idx="12"/>
          </p:nvPr>
        </p:nvSpPr>
        <p:spPr/>
        <p:txBody>
          <a:bodyPr/>
          <a:lstStyle/>
          <a:p>
            <a:fld id="{73B850FF-6169-4056-8077-06FFA93A5366}" type="slidenum">
              <a:rPr lang="en-US" smtClean="0"/>
              <a:t>7</a:t>
            </a:fld>
            <a:endParaRPr lang="en-US"/>
          </a:p>
        </p:txBody>
      </p:sp>
    </p:spTree>
    <p:extLst>
      <p:ext uri="{BB962C8B-B14F-4D97-AF65-F5344CB8AC3E}">
        <p14:creationId xmlns:p14="http://schemas.microsoft.com/office/powerpoint/2010/main" val="3789207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501EE-0151-E05A-514B-76797C1DA8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FEB466-2A03-69EE-1767-CB159AFB20EA}"/>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Time Bucket Productivity</a:t>
            </a:r>
          </a:p>
        </p:txBody>
      </p:sp>
      <p:sp>
        <p:nvSpPr>
          <p:cNvPr id="3" name="Content Placeholder 2">
            <a:extLst>
              <a:ext uri="{FF2B5EF4-FFF2-40B4-BE49-F238E27FC236}">
                <a16:creationId xmlns:a16="http://schemas.microsoft.com/office/drawing/2014/main" id="{A0A09D7A-09FE-609B-5518-A6E3974AEF15}"/>
              </a:ext>
            </a:extLst>
          </p:cNvPr>
          <p:cNvSpPr>
            <a:spLocks noGrp="1"/>
          </p:cNvSpPr>
          <p:nvPr>
            <p:ph sz="half" idx="1"/>
          </p:nvPr>
        </p:nvSpPr>
        <p:spPr>
          <a:xfrm>
            <a:off x="838201" y="1825625"/>
            <a:ext cx="3668485" cy="4351338"/>
          </a:xfrm>
        </p:spPr>
        <p:txBody>
          <a:bodyPr/>
          <a:lstStyle/>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Member quick trips</a:t>
            </a:r>
          </a:p>
          <a:p>
            <a:pPr lvl="1">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0-5 min: 2.6x more</a:t>
            </a:r>
          </a:p>
          <a:p>
            <a:pPr lvl="1">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5-10 min: 2.2x more</a:t>
            </a:r>
          </a:p>
          <a:p>
            <a:pPr lvl="1">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10-15 min: 1.8x more</a:t>
            </a:r>
          </a:p>
          <a:p>
            <a:pPr lvl="1">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15-30 min: </a:t>
            </a:r>
            <a:r>
              <a:rPr lang="en-US" sz="1600">
                <a:latin typeface="Calibri" panose="020F0502020204030204" pitchFamily="34" charset="0"/>
                <a:ea typeface="Calibri" panose="020F0502020204030204" pitchFamily="34" charset="0"/>
                <a:cs typeface="Calibri" panose="020F0502020204030204" pitchFamily="34" charset="0"/>
              </a:rPr>
              <a:t>1.4x more</a:t>
            </a: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Casuals 4.7x more trips at 60+ minutes</a:t>
            </a: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7" name="Content Placeholder 6">
            <a:extLst>
              <a:ext uri="{FF2B5EF4-FFF2-40B4-BE49-F238E27FC236}">
                <a16:creationId xmlns:a16="http://schemas.microsoft.com/office/drawing/2014/main" id="{02CE6412-B38D-5D88-E52C-EAD4101D9A74}"/>
              </a:ext>
            </a:extLst>
          </p:cNvPr>
          <p:cNvGraphicFramePr>
            <a:graphicFrameLocks noGrp="1"/>
          </p:cNvGraphicFramePr>
          <p:nvPr>
            <p:ph sz="half" idx="2"/>
            <p:extLst>
              <p:ext uri="{D42A27DB-BD31-4B8C-83A1-F6EECF244321}">
                <p14:modId xmlns:p14="http://schemas.microsoft.com/office/powerpoint/2010/main" val="4217924625"/>
              </p:ext>
            </p:extLst>
          </p:nvPr>
        </p:nvGraphicFramePr>
        <p:xfrm>
          <a:off x="4506687" y="1825625"/>
          <a:ext cx="6847114"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4" name="Slide Number Placeholder 3">
            <a:extLst>
              <a:ext uri="{FF2B5EF4-FFF2-40B4-BE49-F238E27FC236}">
                <a16:creationId xmlns:a16="http://schemas.microsoft.com/office/drawing/2014/main" id="{7C190A4D-9A33-E16C-E03A-C41B2909C5A7}"/>
              </a:ext>
            </a:extLst>
          </p:cNvPr>
          <p:cNvSpPr>
            <a:spLocks noGrp="1"/>
          </p:cNvSpPr>
          <p:nvPr>
            <p:ph type="sldNum" sz="quarter" idx="12"/>
          </p:nvPr>
        </p:nvSpPr>
        <p:spPr/>
        <p:txBody>
          <a:bodyPr/>
          <a:lstStyle/>
          <a:p>
            <a:fld id="{73B850FF-6169-4056-8077-06FFA93A5366}" type="slidenum">
              <a:rPr lang="en-US" smtClean="0"/>
              <a:t>8</a:t>
            </a:fld>
            <a:endParaRPr lang="en-US"/>
          </a:p>
        </p:txBody>
      </p:sp>
    </p:spTree>
    <p:extLst>
      <p:ext uri="{BB962C8B-B14F-4D97-AF65-F5344CB8AC3E}">
        <p14:creationId xmlns:p14="http://schemas.microsoft.com/office/powerpoint/2010/main" val="2880884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97BAF-B8EA-3829-9923-55C6DEB2A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7AF16A-7745-A8CA-FBF0-C724FF74A7EC}"/>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Time Bucket Distribution</a:t>
            </a:r>
          </a:p>
        </p:txBody>
      </p:sp>
      <p:sp>
        <p:nvSpPr>
          <p:cNvPr id="3" name="Content Placeholder 2">
            <a:extLst>
              <a:ext uri="{FF2B5EF4-FFF2-40B4-BE49-F238E27FC236}">
                <a16:creationId xmlns:a16="http://schemas.microsoft.com/office/drawing/2014/main" id="{547BD5DF-40B2-B0DC-9516-DC2DA3050DA2}"/>
              </a:ext>
            </a:extLst>
          </p:cNvPr>
          <p:cNvSpPr>
            <a:spLocks noGrp="1"/>
          </p:cNvSpPr>
          <p:nvPr>
            <p:ph sz="half" idx="1"/>
          </p:nvPr>
        </p:nvSpPr>
        <p:spPr>
          <a:xfrm>
            <a:off x="838201" y="1825625"/>
            <a:ext cx="3668485" cy="4351338"/>
          </a:xfrm>
        </p:spPr>
        <p:txBody>
          <a:bodyPr/>
          <a:lstStyle/>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Casuals leading in</a:t>
            </a:r>
          </a:p>
          <a:p>
            <a:pPr lvl="1">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15-30 min: 1.3x more</a:t>
            </a:r>
          </a:p>
          <a:p>
            <a:pPr lvl="1">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30-60 min: 2.3x more</a:t>
            </a:r>
          </a:p>
          <a:p>
            <a:pPr lvl="1">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60+ min: 8.2x more</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76% of members concentrate below 15 minutes vs 61% of casuals</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39% of casuals extend rides 15 minutes and above vs 24% of members</a:t>
            </a: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6" name="Content Placeholder 5">
            <a:extLst>
              <a:ext uri="{FF2B5EF4-FFF2-40B4-BE49-F238E27FC236}">
                <a16:creationId xmlns:a16="http://schemas.microsoft.com/office/drawing/2014/main" id="{70A831CA-EEF4-89F8-ECB3-D56C679FBBE1}"/>
              </a:ext>
            </a:extLst>
          </p:cNvPr>
          <p:cNvGraphicFramePr>
            <a:graphicFrameLocks noGrp="1"/>
          </p:cNvGraphicFramePr>
          <p:nvPr>
            <p:ph sz="half" idx="2"/>
            <p:extLst>
              <p:ext uri="{D42A27DB-BD31-4B8C-83A1-F6EECF244321}">
                <p14:modId xmlns:p14="http://schemas.microsoft.com/office/powerpoint/2010/main" val="3959052189"/>
              </p:ext>
            </p:extLst>
          </p:nvPr>
        </p:nvGraphicFramePr>
        <p:xfrm>
          <a:off x="4506686" y="1825625"/>
          <a:ext cx="6847114"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4" name="Slide Number Placeholder 3">
            <a:extLst>
              <a:ext uri="{FF2B5EF4-FFF2-40B4-BE49-F238E27FC236}">
                <a16:creationId xmlns:a16="http://schemas.microsoft.com/office/drawing/2014/main" id="{D64140E7-49D3-5DA5-60D2-9E868D2D4798}"/>
              </a:ext>
            </a:extLst>
          </p:cNvPr>
          <p:cNvSpPr>
            <a:spLocks noGrp="1"/>
          </p:cNvSpPr>
          <p:nvPr>
            <p:ph type="sldNum" sz="quarter" idx="12"/>
          </p:nvPr>
        </p:nvSpPr>
        <p:spPr/>
        <p:txBody>
          <a:bodyPr/>
          <a:lstStyle/>
          <a:p>
            <a:fld id="{73B850FF-6169-4056-8077-06FFA93A5366}" type="slidenum">
              <a:rPr lang="en-US" smtClean="0"/>
              <a:t>9</a:t>
            </a:fld>
            <a:endParaRPr lang="en-US"/>
          </a:p>
        </p:txBody>
      </p:sp>
    </p:spTree>
    <p:extLst>
      <p:ext uri="{BB962C8B-B14F-4D97-AF65-F5344CB8AC3E}">
        <p14:creationId xmlns:p14="http://schemas.microsoft.com/office/powerpoint/2010/main" val="2070248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85022-E404-5B95-4A4B-AFFB2A83ED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0AC2E-965A-E274-4EEC-DC216DB2F125}"/>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Welcome to the Week</a:t>
            </a:r>
          </a:p>
        </p:txBody>
      </p:sp>
      <p:sp>
        <p:nvSpPr>
          <p:cNvPr id="3" name="Content Placeholder 2">
            <a:extLst>
              <a:ext uri="{FF2B5EF4-FFF2-40B4-BE49-F238E27FC236}">
                <a16:creationId xmlns:a16="http://schemas.microsoft.com/office/drawing/2014/main" id="{C86B8404-1E3B-A24B-A01F-0C4A8BCBD293}"/>
              </a:ext>
            </a:extLst>
          </p:cNvPr>
          <p:cNvSpPr>
            <a:spLocks noGrp="1"/>
          </p:cNvSpPr>
          <p:nvPr>
            <p:ph sz="half" idx="1"/>
          </p:nvPr>
        </p:nvSpPr>
        <p:spPr>
          <a:xfrm>
            <a:off x="838201" y="1825625"/>
            <a:ext cx="3668485" cy="4351338"/>
          </a:xfrm>
        </p:spPr>
        <p:txBody>
          <a:bodyPr/>
          <a:lstStyle/>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Member weekday volume 2.2:1 over casuals</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Mon-</a:t>
            </a:r>
            <a:r>
              <a:rPr lang="en-US" sz="2000" dirty="0" err="1">
                <a:latin typeface="Calibri" panose="020F0502020204030204" pitchFamily="34" charset="0"/>
                <a:ea typeface="Calibri" panose="020F0502020204030204" pitchFamily="34" charset="0"/>
                <a:cs typeface="Calibri" panose="020F0502020204030204" pitchFamily="34" charset="0"/>
              </a:rPr>
              <a:t>Thur</a:t>
            </a:r>
            <a:r>
              <a:rPr lang="en-US" sz="2000" dirty="0">
                <a:latin typeface="Calibri" panose="020F0502020204030204" pitchFamily="34" charset="0"/>
                <a:ea typeface="Calibri" panose="020F0502020204030204" pitchFamily="34" charset="0"/>
                <a:cs typeface="Calibri" panose="020F0502020204030204" pitchFamily="34" charset="0"/>
              </a:rPr>
              <a:t> to Fri change: +34% casuals, -5% members</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Weekday to weekend change: +53% casuals, -21% members</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Weekend near parity with members only 1.1:1 over casuals</a:t>
            </a: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0" name="Content Placeholder 9">
            <a:extLst>
              <a:ext uri="{FF2B5EF4-FFF2-40B4-BE49-F238E27FC236}">
                <a16:creationId xmlns:a16="http://schemas.microsoft.com/office/drawing/2014/main" id="{DB20AD30-59D7-97A7-A59E-4742CEA6DD7E}"/>
              </a:ext>
            </a:extLst>
          </p:cNvPr>
          <p:cNvGraphicFramePr>
            <a:graphicFrameLocks noGrp="1"/>
          </p:cNvGraphicFramePr>
          <p:nvPr>
            <p:ph sz="half" idx="2"/>
            <p:extLst>
              <p:ext uri="{D42A27DB-BD31-4B8C-83A1-F6EECF244321}">
                <p14:modId xmlns:p14="http://schemas.microsoft.com/office/powerpoint/2010/main" val="935233998"/>
              </p:ext>
            </p:extLst>
          </p:nvPr>
        </p:nvGraphicFramePr>
        <p:xfrm>
          <a:off x="4683034" y="1825625"/>
          <a:ext cx="6670766"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4" name="Slide Number Placeholder 3">
            <a:extLst>
              <a:ext uri="{FF2B5EF4-FFF2-40B4-BE49-F238E27FC236}">
                <a16:creationId xmlns:a16="http://schemas.microsoft.com/office/drawing/2014/main" id="{70F0C676-DCEA-D51E-B2D9-00D1DFEE68AF}"/>
              </a:ext>
            </a:extLst>
          </p:cNvPr>
          <p:cNvSpPr>
            <a:spLocks noGrp="1"/>
          </p:cNvSpPr>
          <p:nvPr>
            <p:ph type="sldNum" sz="quarter" idx="12"/>
          </p:nvPr>
        </p:nvSpPr>
        <p:spPr/>
        <p:txBody>
          <a:bodyPr/>
          <a:lstStyle/>
          <a:p>
            <a:fld id="{73B850FF-6169-4056-8077-06FFA93A5366}" type="slidenum">
              <a:rPr lang="en-US" smtClean="0"/>
              <a:t>10</a:t>
            </a:fld>
            <a:endParaRPr lang="en-US"/>
          </a:p>
        </p:txBody>
      </p:sp>
    </p:spTree>
    <p:extLst>
      <p:ext uri="{BB962C8B-B14F-4D97-AF65-F5344CB8AC3E}">
        <p14:creationId xmlns:p14="http://schemas.microsoft.com/office/powerpoint/2010/main" val="3444636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EABDF-34D0-0C2B-DD6F-110BCF5098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834EA8-CAF5-F66C-5F73-6A13887569EC}"/>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7-day Leisure</a:t>
            </a:r>
          </a:p>
        </p:txBody>
      </p:sp>
      <p:sp>
        <p:nvSpPr>
          <p:cNvPr id="3" name="Content Placeholder 2">
            <a:extLst>
              <a:ext uri="{FF2B5EF4-FFF2-40B4-BE49-F238E27FC236}">
                <a16:creationId xmlns:a16="http://schemas.microsoft.com/office/drawing/2014/main" id="{C11C6F07-6038-3FB5-A674-79C1D5F6BB06}"/>
              </a:ext>
            </a:extLst>
          </p:cNvPr>
          <p:cNvSpPr>
            <a:spLocks noGrp="1"/>
          </p:cNvSpPr>
          <p:nvPr>
            <p:ph sz="half" idx="1"/>
          </p:nvPr>
        </p:nvSpPr>
        <p:spPr>
          <a:xfrm>
            <a:off x="838201" y="1825625"/>
            <a:ext cx="3668485" cy="4351338"/>
          </a:xfrm>
        </p:spPr>
        <p:txBody>
          <a:bodyPr/>
          <a:lstStyle/>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Casuals ride 1.8x longer, but members only differ by 28 seconds (11:39 avg) on weekdays</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Weekday to weekend change: +25% casuals, +14% members</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Sundays are peak duration for both, but casuals still riding almost 2x longer</a:t>
            </a: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6" name="Content Placeholder 5">
            <a:extLst>
              <a:ext uri="{FF2B5EF4-FFF2-40B4-BE49-F238E27FC236}">
                <a16:creationId xmlns:a16="http://schemas.microsoft.com/office/drawing/2014/main" id="{93CBFF3F-13A6-5D1C-6C78-BF0E46EA4337}"/>
              </a:ext>
            </a:extLst>
          </p:cNvPr>
          <p:cNvGraphicFramePr>
            <a:graphicFrameLocks noGrp="1"/>
          </p:cNvGraphicFramePr>
          <p:nvPr>
            <p:ph sz="half" idx="2"/>
            <p:extLst>
              <p:ext uri="{D42A27DB-BD31-4B8C-83A1-F6EECF244321}">
                <p14:modId xmlns:p14="http://schemas.microsoft.com/office/powerpoint/2010/main" val="1883261989"/>
              </p:ext>
            </p:extLst>
          </p:nvPr>
        </p:nvGraphicFramePr>
        <p:xfrm>
          <a:off x="4715691" y="1825625"/>
          <a:ext cx="6638109"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4" name="Slide Number Placeholder 3">
            <a:extLst>
              <a:ext uri="{FF2B5EF4-FFF2-40B4-BE49-F238E27FC236}">
                <a16:creationId xmlns:a16="http://schemas.microsoft.com/office/drawing/2014/main" id="{AB6B1325-1DD8-4CA6-AAC7-88B68D1B20E4}"/>
              </a:ext>
            </a:extLst>
          </p:cNvPr>
          <p:cNvSpPr>
            <a:spLocks noGrp="1"/>
          </p:cNvSpPr>
          <p:nvPr>
            <p:ph type="sldNum" sz="quarter" idx="12"/>
          </p:nvPr>
        </p:nvSpPr>
        <p:spPr/>
        <p:txBody>
          <a:bodyPr/>
          <a:lstStyle/>
          <a:p>
            <a:fld id="{73B850FF-6169-4056-8077-06FFA93A5366}" type="slidenum">
              <a:rPr lang="en-US" smtClean="0"/>
              <a:t>11</a:t>
            </a:fld>
            <a:endParaRPr lang="en-US"/>
          </a:p>
        </p:txBody>
      </p:sp>
    </p:spTree>
    <p:extLst>
      <p:ext uri="{BB962C8B-B14F-4D97-AF65-F5344CB8AC3E}">
        <p14:creationId xmlns:p14="http://schemas.microsoft.com/office/powerpoint/2010/main" val="212660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631EC-322E-F682-106E-C17DEC8799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CA137-F8D1-7558-3D79-F62BF65AA5AE}"/>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Seasonal Extremes</a:t>
            </a:r>
          </a:p>
        </p:txBody>
      </p:sp>
      <p:sp>
        <p:nvSpPr>
          <p:cNvPr id="3" name="Content Placeholder 2">
            <a:extLst>
              <a:ext uri="{FF2B5EF4-FFF2-40B4-BE49-F238E27FC236}">
                <a16:creationId xmlns:a16="http://schemas.microsoft.com/office/drawing/2014/main" id="{42CEFF4E-4A44-4833-582D-FBFBB1285C7A}"/>
              </a:ext>
            </a:extLst>
          </p:cNvPr>
          <p:cNvSpPr>
            <a:spLocks noGrp="1"/>
          </p:cNvSpPr>
          <p:nvPr>
            <p:ph sz="half" idx="1"/>
          </p:nvPr>
        </p:nvSpPr>
        <p:spPr>
          <a:xfrm>
            <a:off x="838201" y="1825625"/>
            <a:ext cx="3668485" cy="4351338"/>
          </a:xfrm>
        </p:spPr>
        <p:txBody>
          <a:bodyPr>
            <a:normAutofit/>
          </a:bodyPr>
          <a:lstStyle/>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January: Members outnumber casuals 4.8:1 by volume, 83% of market share, most in entire year</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Winter to summer growth: 14x for casuals, 4x for members</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Winter: Casuals 4.5%, members 10.8% of total trips</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Summer: Casuals 48%, members 36% of total trips</a:t>
            </a: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Content Placeholder 3">
            <a:extLst>
              <a:ext uri="{FF2B5EF4-FFF2-40B4-BE49-F238E27FC236}">
                <a16:creationId xmlns:a16="http://schemas.microsoft.com/office/drawing/2014/main" id="{664391B5-D5B8-986E-D02D-35BD6EF2BF20}"/>
              </a:ext>
            </a:extLst>
          </p:cNvPr>
          <p:cNvGraphicFramePr>
            <a:graphicFrameLocks noGrp="1"/>
          </p:cNvGraphicFramePr>
          <p:nvPr>
            <p:ph sz="half" idx="2"/>
            <p:extLst>
              <p:ext uri="{D42A27DB-BD31-4B8C-83A1-F6EECF244321}">
                <p14:modId xmlns:p14="http://schemas.microsoft.com/office/powerpoint/2010/main" val="2701443824"/>
              </p:ext>
            </p:extLst>
          </p:nvPr>
        </p:nvGraphicFramePr>
        <p:xfrm>
          <a:off x="4650377" y="1825625"/>
          <a:ext cx="6703423"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5" name="Slide Number Placeholder 4">
            <a:extLst>
              <a:ext uri="{FF2B5EF4-FFF2-40B4-BE49-F238E27FC236}">
                <a16:creationId xmlns:a16="http://schemas.microsoft.com/office/drawing/2014/main" id="{184DE363-7A43-EAAA-AE4A-6FB1DD6D15C6}"/>
              </a:ext>
            </a:extLst>
          </p:cNvPr>
          <p:cNvSpPr>
            <a:spLocks noGrp="1"/>
          </p:cNvSpPr>
          <p:nvPr>
            <p:ph type="sldNum" sz="quarter" idx="12"/>
          </p:nvPr>
        </p:nvSpPr>
        <p:spPr/>
        <p:txBody>
          <a:bodyPr/>
          <a:lstStyle/>
          <a:p>
            <a:fld id="{73B850FF-6169-4056-8077-06FFA93A5366}" type="slidenum">
              <a:rPr lang="en-US" smtClean="0"/>
              <a:t>12</a:t>
            </a:fld>
            <a:endParaRPr lang="en-US"/>
          </a:p>
        </p:txBody>
      </p:sp>
    </p:spTree>
    <p:extLst>
      <p:ext uri="{BB962C8B-B14F-4D97-AF65-F5344CB8AC3E}">
        <p14:creationId xmlns:p14="http://schemas.microsoft.com/office/powerpoint/2010/main" val="4165833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7A1A0-9273-6AA3-96DF-9EBADA8D7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7E6C0-32BE-F4E9-71AB-85DA7329D91A}"/>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Year in the Saddle</a:t>
            </a:r>
          </a:p>
        </p:txBody>
      </p:sp>
      <p:sp>
        <p:nvSpPr>
          <p:cNvPr id="3" name="Content Placeholder 2">
            <a:extLst>
              <a:ext uri="{FF2B5EF4-FFF2-40B4-BE49-F238E27FC236}">
                <a16:creationId xmlns:a16="http://schemas.microsoft.com/office/drawing/2014/main" id="{85193171-D5FE-7F2E-E964-B6CB6CB4B315}"/>
              </a:ext>
            </a:extLst>
          </p:cNvPr>
          <p:cNvSpPr>
            <a:spLocks noGrp="1"/>
          </p:cNvSpPr>
          <p:nvPr>
            <p:ph sz="half" idx="1"/>
          </p:nvPr>
        </p:nvSpPr>
        <p:spPr>
          <a:xfrm>
            <a:off x="838201" y="1825625"/>
            <a:ext cx="3668485" cy="4351338"/>
          </a:xfrm>
        </p:spPr>
        <p:txBody>
          <a:bodyPr>
            <a:normAutofit/>
          </a:bodyPr>
          <a:lstStyle/>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Casuals average 23+ minutes, members 12 minutes over an entire year</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Members vary by just 3.3 minutes, casuals 10.8 minutes throughout the year</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Winter to summer change:</a:t>
            </a:r>
          </a:p>
          <a:p>
            <a:pPr lvl="1">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Casuals +56%</a:t>
            </a:r>
          </a:p>
          <a:p>
            <a:pPr lvl="1">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Members +28%</a:t>
            </a:r>
          </a:p>
          <a:p>
            <a:pPr lvl="1">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Casuals show 2x more seasonal variation</a:t>
            </a: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8" name="Content Placeholder 7">
            <a:extLst>
              <a:ext uri="{FF2B5EF4-FFF2-40B4-BE49-F238E27FC236}">
                <a16:creationId xmlns:a16="http://schemas.microsoft.com/office/drawing/2014/main" id="{9554F442-CB71-9846-15D0-B478A5569C88}"/>
              </a:ext>
            </a:extLst>
          </p:cNvPr>
          <p:cNvGraphicFramePr>
            <a:graphicFrameLocks noGrp="1"/>
          </p:cNvGraphicFramePr>
          <p:nvPr>
            <p:ph sz="half" idx="2"/>
            <p:extLst>
              <p:ext uri="{D42A27DB-BD31-4B8C-83A1-F6EECF244321}">
                <p14:modId xmlns:p14="http://schemas.microsoft.com/office/powerpoint/2010/main" val="3702061968"/>
              </p:ext>
            </p:extLst>
          </p:nvPr>
        </p:nvGraphicFramePr>
        <p:xfrm>
          <a:off x="4598127" y="1825625"/>
          <a:ext cx="6755674"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4" name="Slide Number Placeholder 3">
            <a:extLst>
              <a:ext uri="{FF2B5EF4-FFF2-40B4-BE49-F238E27FC236}">
                <a16:creationId xmlns:a16="http://schemas.microsoft.com/office/drawing/2014/main" id="{749FB043-3967-007D-2EDD-F7A2801E96D3}"/>
              </a:ext>
            </a:extLst>
          </p:cNvPr>
          <p:cNvSpPr>
            <a:spLocks noGrp="1"/>
          </p:cNvSpPr>
          <p:nvPr>
            <p:ph type="sldNum" sz="quarter" idx="12"/>
          </p:nvPr>
        </p:nvSpPr>
        <p:spPr/>
        <p:txBody>
          <a:bodyPr/>
          <a:lstStyle/>
          <a:p>
            <a:fld id="{73B850FF-6169-4056-8077-06FFA93A5366}" type="slidenum">
              <a:rPr lang="en-US" smtClean="0"/>
              <a:t>13</a:t>
            </a:fld>
            <a:endParaRPr lang="en-US"/>
          </a:p>
        </p:txBody>
      </p:sp>
    </p:spTree>
    <p:extLst>
      <p:ext uri="{BB962C8B-B14F-4D97-AF65-F5344CB8AC3E}">
        <p14:creationId xmlns:p14="http://schemas.microsoft.com/office/powerpoint/2010/main" val="3883893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81CCE-55B4-DBCC-40FB-A5A3D702DDF0}"/>
              </a:ext>
            </a:extLst>
          </p:cNvPr>
          <p:cNvSpPr>
            <a:spLocks noGrp="1"/>
          </p:cNvSpPr>
          <p:nvPr>
            <p:ph type="title"/>
          </p:nvPr>
        </p:nvSpPr>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Member Conclusion: Essential Transportation</a:t>
            </a:r>
          </a:p>
        </p:txBody>
      </p:sp>
      <p:sp>
        <p:nvSpPr>
          <p:cNvPr id="3" name="Content Placeholder 2">
            <a:extLst>
              <a:ext uri="{FF2B5EF4-FFF2-40B4-BE49-F238E27FC236}">
                <a16:creationId xmlns:a16="http://schemas.microsoft.com/office/drawing/2014/main" id="{077C00AE-5190-E86F-A7DE-30A392AC9CFE}"/>
              </a:ext>
            </a:extLst>
          </p:cNvPr>
          <p:cNvSpPr>
            <a:spLocks noGrp="1"/>
          </p:cNvSpPr>
          <p:nvPr>
            <p:ph idx="1"/>
          </p:nvPr>
        </p:nvSpPr>
        <p:spPr/>
        <p:txBody>
          <a:bodyPr>
            <a:normAutofit/>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Members use bike share as a vital commuter modality</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Commute-focused – 3.5x advantage at 8 AM and 2x at 5PM, 2.2:1 weekday dominance, 21% weekend drop</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Ridiculously consistent – averages 11-13 min trips across all hours/days, differs only by 28 seconds on weekdays specifically, and trips deviate by only 3.3 minutes on average annually</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Year-round commitment – Leads all ride volumes per month and 1.75x more annually, even in January with the highest market share of 83% and 4.8:1 by volume over casuals</a:t>
            </a:r>
          </a:p>
        </p:txBody>
      </p:sp>
      <p:sp>
        <p:nvSpPr>
          <p:cNvPr id="4" name="Slide Number Placeholder 3">
            <a:extLst>
              <a:ext uri="{FF2B5EF4-FFF2-40B4-BE49-F238E27FC236}">
                <a16:creationId xmlns:a16="http://schemas.microsoft.com/office/drawing/2014/main" id="{2E011D1B-670C-875B-1164-DFEEB0CA35F7}"/>
              </a:ext>
            </a:extLst>
          </p:cNvPr>
          <p:cNvSpPr>
            <a:spLocks noGrp="1"/>
          </p:cNvSpPr>
          <p:nvPr>
            <p:ph type="sldNum" sz="quarter" idx="12"/>
          </p:nvPr>
        </p:nvSpPr>
        <p:spPr/>
        <p:txBody>
          <a:bodyPr/>
          <a:lstStyle/>
          <a:p>
            <a:fld id="{73B850FF-6169-4056-8077-06FFA93A5366}" type="slidenum">
              <a:rPr lang="en-US" smtClean="0"/>
              <a:t>14</a:t>
            </a:fld>
            <a:endParaRPr lang="en-US"/>
          </a:p>
        </p:txBody>
      </p:sp>
    </p:spTree>
    <p:extLst>
      <p:ext uri="{BB962C8B-B14F-4D97-AF65-F5344CB8AC3E}">
        <p14:creationId xmlns:p14="http://schemas.microsoft.com/office/powerpoint/2010/main" val="3731356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4264E-BF0D-B70E-EC12-1AEE80B94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399475-4280-67BE-2355-472D55316F7C}"/>
              </a:ext>
            </a:extLst>
          </p:cNvPr>
          <p:cNvSpPr>
            <a:spLocks noGrp="1"/>
          </p:cNvSpPr>
          <p:nvPr>
            <p:ph type="title"/>
          </p:nvPr>
        </p:nvSpPr>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Casuals Conclusion: Seasonal Recreation</a:t>
            </a:r>
          </a:p>
        </p:txBody>
      </p:sp>
      <p:sp>
        <p:nvSpPr>
          <p:cNvPr id="3" name="Content Placeholder 2">
            <a:extLst>
              <a:ext uri="{FF2B5EF4-FFF2-40B4-BE49-F238E27FC236}">
                <a16:creationId xmlns:a16="http://schemas.microsoft.com/office/drawing/2014/main" id="{B0AFCE9D-FDE2-566C-E3BA-443DF6A47BD6}"/>
              </a:ext>
            </a:extLst>
          </p:cNvPr>
          <p:cNvSpPr>
            <a:spLocks noGrp="1"/>
          </p:cNvSpPr>
          <p:nvPr>
            <p:ph idx="1"/>
          </p:nvPr>
        </p:nvSpPr>
        <p:spPr/>
        <p:txBody>
          <a:bodyPr>
            <a:normAutofit fontScale="92500"/>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Casuals use bike share for leisure, sight-seeing, and exploration</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Relaxed pace – 39% vs just 24% of members extend rides longer than 15 minutes, plus adds 24 minutes per ride vs only 3 minutes for members when on non-electric bikes specifically</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Wild nights/weekends – Has the daily advantage in volume and average ride duration between midnight and 3AM, increases ride durations from 1.8x longer on weekdays to 2x more than members on weekends starting with a +34% Friday surge</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Tourism-related seasonality – 14x winter to summer ride volume growth vs just 4x for members and increase ride durations over the same period by 56% vs members 28%</a:t>
            </a:r>
          </a:p>
        </p:txBody>
      </p:sp>
      <p:sp>
        <p:nvSpPr>
          <p:cNvPr id="4" name="Slide Number Placeholder 3">
            <a:extLst>
              <a:ext uri="{FF2B5EF4-FFF2-40B4-BE49-F238E27FC236}">
                <a16:creationId xmlns:a16="http://schemas.microsoft.com/office/drawing/2014/main" id="{C44FA7E1-8FB2-F6EC-7E52-64DA16594575}"/>
              </a:ext>
            </a:extLst>
          </p:cNvPr>
          <p:cNvSpPr>
            <a:spLocks noGrp="1"/>
          </p:cNvSpPr>
          <p:nvPr>
            <p:ph type="sldNum" sz="quarter" idx="12"/>
          </p:nvPr>
        </p:nvSpPr>
        <p:spPr/>
        <p:txBody>
          <a:bodyPr/>
          <a:lstStyle/>
          <a:p>
            <a:fld id="{73B850FF-6169-4056-8077-06FFA93A5366}" type="slidenum">
              <a:rPr lang="en-US" smtClean="0"/>
              <a:t>15</a:t>
            </a:fld>
            <a:endParaRPr lang="en-US"/>
          </a:p>
        </p:txBody>
      </p:sp>
    </p:spTree>
    <p:extLst>
      <p:ext uri="{BB962C8B-B14F-4D97-AF65-F5344CB8AC3E}">
        <p14:creationId xmlns:p14="http://schemas.microsoft.com/office/powerpoint/2010/main" val="2113256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2B839-17EC-4F75-1F3B-44FAF1B298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96BBED-E4D4-82C5-D913-3943075FC02D}"/>
              </a:ext>
            </a:extLst>
          </p:cNvPr>
          <p:cNvSpPr>
            <a:spLocks noGrp="1"/>
          </p:cNvSpPr>
          <p:nvPr>
            <p:ph type="title"/>
          </p:nvPr>
        </p:nvSpPr>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Key Takeaway</a:t>
            </a:r>
          </a:p>
        </p:txBody>
      </p:sp>
      <p:sp>
        <p:nvSpPr>
          <p:cNvPr id="3" name="Content Placeholder 2">
            <a:extLst>
              <a:ext uri="{FF2B5EF4-FFF2-40B4-BE49-F238E27FC236}">
                <a16:creationId xmlns:a16="http://schemas.microsoft.com/office/drawing/2014/main" id="{69AE1C59-CB44-57E7-24A3-FECD8A8BCE80}"/>
              </a:ext>
            </a:extLst>
          </p:cNvPr>
          <p:cNvSpPr>
            <a:spLocks noGrp="1"/>
          </p:cNvSpPr>
          <p:nvPr>
            <p:ph idx="1"/>
          </p:nvPr>
        </p:nvSpPr>
        <p:spPr/>
        <p:txBody>
          <a:bodyPr>
            <a:normAutofit/>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Chicago’s bike share doesn’t serve just one market; it serves two completely different populations who happen to share the same bikes and transportation infrastructure. Optimizing for one risks alienating the other. A fantastic opportunity lies in the recognition and support of both use cases.</a:t>
            </a:r>
          </a:p>
        </p:txBody>
      </p:sp>
      <p:sp>
        <p:nvSpPr>
          <p:cNvPr id="4" name="Slide Number Placeholder 3">
            <a:extLst>
              <a:ext uri="{FF2B5EF4-FFF2-40B4-BE49-F238E27FC236}">
                <a16:creationId xmlns:a16="http://schemas.microsoft.com/office/drawing/2014/main" id="{0327CDBA-F8FB-BA58-4668-2CAEAC5901DF}"/>
              </a:ext>
            </a:extLst>
          </p:cNvPr>
          <p:cNvSpPr>
            <a:spLocks noGrp="1"/>
          </p:cNvSpPr>
          <p:nvPr>
            <p:ph type="sldNum" sz="quarter" idx="12"/>
          </p:nvPr>
        </p:nvSpPr>
        <p:spPr/>
        <p:txBody>
          <a:bodyPr/>
          <a:lstStyle/>
          <a:p>
            <a:fld id="{73B850FF-6169-4056-8077-06FFA93A5366}" type="slidenum">
              <a:rPr lang="en-US" smtClean="0"/>
              <a:t>16</a:t>
            </a:fld>
            <a:endParaRPr lang="en-US"/>
          </a:p>
        </p:txBody>
      </p:sp>
    </p:spTree>
    <p:extLst>
      <p:ext uri="{BB962C8B-B14F-4D97-AF65-F5344CB8AC3E}">
        <p14:creationId xmlns:p14="http://schemas.microsoft.com/office/powerpoint/2010/main" val="1413065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09CE9-6FFB-7FCE-1E80-992C85200A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66BC9-787E-5310-E976-4891B4285B14}"/>
              </a:ext>
            </a:extLst>
          </p:cNvPr>
          <p:cNvSpPr>
            <a:spLocks noGrp="1"/>
          </p:cNvSpPr>
          <p:nvPr>
            <p:ph type="title"/>
          </p:nvPr>
        </p:nvSpPr>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Recommendations: Operational</a:t>
            </a:r>
          </a:p>
        </p:txBody>
      </p:sp>
      <p:sp>
        <p:nvSpPr>
          <p:cNvPr id="3" name="Content Placeholder 2">
            <a:extLst>
              <a:ext uri="{FF2B5EF4-FFF2-40B4-BE49-F238E27FC236}">
                <a16:creationId xmlns:a16="http://schemas.microsoft.com/office/drawing/2014/main" id="{ADA4F743-0271-8FD3-A3F6-0CE10FB76E99}"/>
              </a:ext>
            </a:extLst>
          </p:cNvPr>
          <p:cNvSpPr>
            <a:spLocks noGrp="1"/>
          </p:cNvSpPr>
          <p:nvPr>
            <p:ph idx="1"/>
          </p:nvPr>
        </p:nvSpPr>
        <p:spPr/>
        <p:txBody>
          <a:bodyPr>
            <a:normAutofit/>
          </a:bodyPr>
          <a:lstStyle/>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Fleet rebalancing by season</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Reduce winter fleet by 70%, focusing bikes at member commuting corridors.</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Aggressively expand fleet to tourist zones by April</a:t>
            </a: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Station density optimizations for “last mile”</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Increase stations within 0.25 miles of commute-related transit hubs for member connections</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Increase stations within 0.25 miles of major hotel and night-life districts to accommodate casuals</a:t>
            </a:r>
          </a:p>
        </p:txBody>
      </p:sp>
      <p:sp>
        <p:nvSpPr>
          <p:cNvPr id="4" name="Slide Number Placeholder 3">
            <a:extLst>
              <a:ext uri="{FF2B5EF4-FFF2-40B4-BE49-F238E27FC236}">
                <a16:creationId xmlns:a16="http://schemas.microsoft.com/office/drawing/2014/main" id="{BD4F1A60-0D20-28C4-061A-8FABB32947D3}"/>
              </a:ext>
            </a:extLst>
          </p:cNvPr>
          <p:cNvSpPr>
            <a:spLocks noGrp="1"/>
          </p:cNvSpPr>
          <p:nvPr>
            <p:ph type="sldNum" sz="quarter" idx="12"/>
          </p:nvPr>
        </p:nvSpPr>
        <p:spPr/>
        <p:txBody>
          <a:bodyPr/>
          <a:lstStyle/>
          <a:p>
            <a:fld id="{73B850FF-6169-4056-8077-06FFA93A5366}" type="slidenum">
              <a:rPr lang="en-US" smtClean="0"/>
              <a:t>17</a:t>
            </a:fld>
            <a:endParaRPr lang="en-US"/>
          </a:p>
        </p:txBody>
      </p:sp>
    </p:spTree>
    <p:extLst>
      <p:ext uri="{BB962C8B-B14F-4D97-AF65-F5344CB8AC3E}">
        <p14:creationId xmlns:p14="http://schemas.microsoft.com/office/powerpoint/2010/main" val="3463313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0C13C-04FD-C145-2DA9-B368A62B81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5BBD7B-AE24-6FF3-A89B-9D09E558923F}"/>
              </a:ext>
            </a:extLst>
          </p:cNvPr>
          <p:cNvSpPr>
            <a:spLocks noGrp="1"/>
          </p:cNvSpPr>
          <p:nvPr>
            <p:ph type="title"/>
          </p:nvPr>
        </p:nvSpPr>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Recommendations: Pricing &amp; Revenue</a:t>
            </a:r>
          </a:p>
        </p:txBody>
      </p:sp>
      <p:sp>
        <p:nvSpPr>
          <p:cNvPr id="3" name="Content Placeholder 2">
            <a:extLst>
              <a:ext uri="{FF2B5EF4-FFF2-40B4-BE49-F238E27FC236}">
                <a16:creationId xmlns:a16="http://schemas.microsoft.com/office/drawing/2014/main" id="{B5F94E88-9834-8EFC-5AAF-9DEFCF458A7D}"/>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Time-based pricing optimization</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Introduce a 60-90 minute “scenic ride pass” for casuals capturing willingness to pay for recreation and leisure, but keep member pricing focus on trip frequency, not duration</a:t>
            </a: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Seasonal pricing strategy</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Winter loyalty pricing for members to retain committed users</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Summer premium day pass pricing for casuals to capture the captive tourist market</a:t>
            </a: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Friday surge pricing for casuals</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“Weekend starts now” premium Friday afternoon pricing capturing discretionary recreational demand</a:t>
            </a:r>
          </a:p>
        </p:txBody>
      </p:sp>
      <p:sp>
        <p:nvSpPr>
          <p:cNvPr id="4" name="Slide Number Placeholder 3">
            <a:extLst>
              <a:ext uri="{FF2B5EF4-FFF2-40B4-BE49-F238E27FC236}">
                <a16:creationId xmlns:a16="http://schemas.microsoft.com/office/drawing/2014/main" id="{4D207094-65F3-24D2-42A7-CFF50E3A601F}"/>
              </a:ext>
            </a:extLst>
          </p:cNvPr>
          <p:cNvSpPr>
            <a:spLocks noGrp="1"/>
          </p:cNvSpPr>
          <p:nvPr>
            <p:ph type="sldNum" sz="quarter" idx="12"/>
          </p:nvPr>
        </p:nvSpPr>
        <p:spPr/>
        <p:txBody>
          <a:bodyPr/>
          <a:lstStyle/>
          <a:p>
            <a:fld id="{73B850FF-6169-4056-8077-06FFA93A5366}" type="slidenum">
              <a:rPr lang="en-US" smtClean="0"/>
              <a:t>18</a:t>
            </a:fld>
            <a:endParaRPr lang="en-US"/>
          </a:p>
        </p:txBody>
      </p:sp>
    </p:spTree>
    <p:extLst>
      <p:ext uri="{BB962C8B-B14F-4D97-AF65-F5344CB8AC3E}">
        <p14:creationId xmlns:p14="http://schemas.microsoft.com/office/powerpoint/2010/main" val="3742568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2D7CC-42B0-D409-2674-74E77C9511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574582-C7C4-F02A-216D-4FE58F4A45A8}"/>
              </a:ext>
            </a:extLst>
          </p:cNvPr>
          <p:cNvSpPr>
            <a:spLocks noGrp="1"/>
          </p:cNvSpPr>
          <p:nvPr>
            <p:ph type="title"/>
          </p:nvPr>
        </p:nvSpPr>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Recommendations: Marketing &amp; Growth</a:t>
            </a:r>
          </a:p>
        </p:txBody>
      </p:sp>
      <p:sp>
        <p:nvSpPr>
          <p:cNvPr id="3" name="Content Placeholder 2">
            <a:extLst>
              <a:ext uri="{FF2B5EF4-FFF2-40B4-BE49-F238E27FC236}">
                <a16:creationId xmlns:a16="http://schemas.microsoft.com/office/drawing/2014/main" id="{2518B963-45FD-3393-44A5-436083520923}"/>
              </a:ext>
            </a:extLst>
          </p:cNvPr>
          <p:cNvSpPr>
            <a:spLocks noGrp="1"/>
          </p:cNvSpPr>
          <p:nvPr>
            <p:ph idx="1"/>
          </p:nvPr>
        </p:nvSpPr>
        <p:spPr/>
        <p:txBody>
          <a:bodyPr>
            <a:normAutofit/>
          </a:bodyPr>
          <a:lstStyle/>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Member conversion campaign</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Aggressive casual-to-member conversion campaigns in March-April to “lock in summer savings now” targeting the non-member, yet committed-local riders</a:t>
            </a: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Classic bike positioning for casuals</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Add comfort features such as front racks/baskets to classic fleet</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Market classic bikes to casual riders as “scenic cruisers” for shopping and leisurely lakefront rides</a:t>
            </a:r>
          </a:p>
          <a:p>
            <a:pPr lvl="1">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65B6B64-6636-F9B1-B891-11C1C6484E44}"/>
              </a:ext>
            </a:extLst>
          </p:cNvPr>
          <p:cNvSpPr>
            <a:spLocks noGrp="1"/>
          </p:cNvSpPr>
          <p:nvPr>
            <p:ph type="sldNum" sz="quarter" idx="12"/>
          </p:nvPr>
        </p:nvSpPr>
        <p:spPr/>
        <p:txBody>
          <a:bodyPr/>
          <a:lstStyle/>
          <a:p>
            <a:fld id="{73B850FF-6169-4056-8077-06FFA93A5366}" type="slidenum">
              <a:rPr lang="en-US" smtClean="0"/>
              <a:t>19</a:t>
            </a:fld>
            <a:endParaRPr lang="en-US"/>
          </a:p>
        </p:txBody>
      </p:sp>
    </p:spTree>
    <p:extLst>
      <p:ext uri="{BB962C8B-B14F-4D97-AF65-F5344CB8AC3E}">
        <p14:creationId xmlns:p14="http://schemas.microsoft.com/office/powerpoint/2010/main" val="2614493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1100F-6389-7436-D84C-CE59A2F863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5AABB-83C0-3B35-939F-AABA260DC568}"/>
              </a:ext>
            </a:extLst>
          </p:cNvPr>
          <p:cNvSpPr>
            <a:spLocks noGrp="1"/>
          </p:cNvSpPr>
          <p:nvPr>
            <p:ph type="title"/>
          </p:nvPr>
        </p:nvSpPr>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Appendix A: Data Sources and Caveats</a:t>
            </a:r>
          </a:p>
        </p:txBody>
      </p:sp>
      <p:sp>
        <p:nvSpPr>
          <p:cNvPr id="3" name="Content Placeholder 2">
            <a:extLst>
              <a:ext uri="{FF2B5EF4-FFF2-40B4-BE49-F238E27FC236}">
                <a16:creationId xmlns:a16="http://schemas.microsoft.com/office/drawing/2014/main" id="{FAAB9E5E-66A0-1B66-A504-D2A6D8C3B6C0}"/>
              </a:ext>
            </a:extLst>
          </p:cNvPr>
          <p:cNvSpPr>
            <a:spLocks noGrp="1"/>
          </p:cNvSpPr>
          <p:nvPr>
            <p:ph idx="1"/>
          </p:nvPr>
        </p:nvSpPr>
        <p:spPr/>
        <p:txBody>
          <a:bodyPr>
            <a:normAutofit/>
          </a:bodyPr>
          <a:lstStyle/>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Dataset: 5.5M trips, Sept 2024 – Aug 2025</a:t>
            </a: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Source: Divvy/Chicago bikeshare public data</a:t>
            </a: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Limitations:</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Analysis represents bikeshare usage only</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No user-level data (demographics, income, residence)</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Geographic analysis omitted due to analyst unfamiliarity with Chicago</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43 negative duration trips excluded (possible system maintenance Sept 2024)</a:t>
            </a: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lvl="1">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F7D7F7F-97F4-9941-A22B-8DC41CA86C2A}"/>
              </a:ext>
            </a:extLst>
          </p:cNvPr>
          <p:cNvSpPr>
            <a:spLocks noGrp="1"/>
          </p:cNvSpPr>
          <p:nvPr>
            <p:ph type="sldNum" sz="quarter" idx="12"/>
          </p:nvPr>
        </p:nvSpPr>
        <p:spPr/>
        <p:txBody>
          <a:bodyPr/>
          <a:lstStyle/>
          <a:p>
            <a:fld id="{73B850FF-6169-4056-8077-06FFA93A5366}" type="slidenum">
              <a:rPr lang="en-US" smtClean="0"/>
              <a:t>20</a:t>
            </a:fld>
            <a:endParaRPr lang="en-US"/>
          </a:p>
        </p:txBody>
      </p:sp>
    </p:spTree>
    <p:extLst>
      <p:ext uri="{BB962C8B-B14F-4D97-AF65-F5344CB8AC3E}">
        <p14:creationId xmlns:p14="http://schemas.microsoft.com/office/powerpoint/2010/main" val="4119753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AAEC4-8AC5-94E9-BDE8-06CC52D065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2CFC9-2212-13A4-B08D-62E4CA5B8565}"/>
              </a:ext>
            </a:extLst>
          </p:cNvPr>
          <p:cNvSpPr>
            <a:spLocks noGrp="1"/>
          </p:cNvSpPr>
          <p:nvPr>
            <p:ph type="title"/>
          </p:nvPr>
        </p:nvSpPr>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Appendix B: Analysis Process</a:t>
            </a:r>
          </a:p>
        </p:txBody>
      </p:sp>
      <p:sp>
        <p:nvSpPr>
          <p:cNvPr id="3" name="Content Placeholder 2">
            <a:extLst>
              <a:ext uri="{FF2B5EF4-FFF2-40B4-BE49-F238E27FC236}">
                <a16:creationId xmlns:a16="http://schemas.microsoft.com/office/drawing/2014/main" id="{AD24B457-88A2-8B96-CE80-A7AB5E1044BD}"/>
              </a:ext>
            </a:extLst>
          </p:cNvPr>
          <p:cNvSpPr>
            <a:spLocks noGrp="1"/>
          </p:cNvSpPr>
          <p:nvPr>
            <p:ph idx="1"/>
          </p:nvPr>
        </p:nvSpPr>
        <p:spPr/>
        <p:txBody>
          <a:bodyPr>
            <a:normAutofit/>
          </a:bodyPr>
          <a:lstStyle/>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Data Acquisition</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Downloaded 12 CSV files as months from the following:</a:t>
            </a:r>
          </a:p>
          <a:p>
            <a:pPr lvl="2">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https://divvy-tripdata.s3.amazonaws.com/index.html</a:t>
            </a: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Data Cleaning (MySQL)</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Created and loaded each file as a new table</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Created staging copies of each table</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Tested staging copies for duplicates, blanks, and empty strings</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Explored field data types and ranges</a:t>
            </a: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413AB12-DFDB-743B-691F-3126A37C88BA}"/>
              </a:ext>
            </a:extLst>
          </p:cNvPr>
          <p:cNvSpPr>
            <a:spLocks noGrp="1"/>
          </p:cNvSpPr>
          <p:nvPr>
            <p:ph type="sldNum" sz="quarter" idx="12"/>
          </p:nvPr>
        </p:nvSpPr>
        <p:spPr/>
        <p:txBody>
          <a:bodyPr/>
          <a:lstStyle/>
          <a:p>
            <a:fld id="{73B850FF-6169-4056-8077-06FFA93A5366}" type="slidenum">
              <a:rPr lang="en-US" smtClean="0"/>
              <a:t>21</a:t>
            </a:fld>
            <a:endParaRPr lang="en-US"/>
          </a:p>
        </p:txBody>
      </p:sp>
    </p:spTree>
    <p:extLst>
      <p:ext uri="{BB962C8B-B14F-4D97-AF65-F5344CB8AC3E}">
        <p14:creationId xmlns:p14="http://schemas.microsoft.com/office/powerpoint/2010/main" val="11390701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C0758-B40F-0725-4137-1D3B05D04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5A603-D4A2-2B2E-B8E9-9C0CEBA7E53C}"/>
              </a:ext>
            </a:extLst>
          </p:cNvPr>
          <p:cNvSpPr>
            <a:spLocks noGrp="1"/>
          </p:cNvSpPr>
          <p:nvPr>
            <p:ph type="title"/>
          </p:nvPr>
        </p:nvSpPr>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Appendix B: Analysis Process Continued</a:t>
            </a:r>
          </a:p>
        </p:txBody>
      </p:sp>
      <p:sp>
        <p:nvSpPr>
          <p:cNvPr id="3" name="Content Placeholder 2">
            <a:extLst>
              <a:ext uri="{FF2B5EF4-FFF2-40B4-BE49-F238E27FC236}">
                <a16:creationId xmlns:a16="http://schemas.microsoft.com/office/drawing/2014/main" id="{0DD5516C-E7DA-738F-9638-6ED53A00AA4C}"/>
              </a:ext>
            </a:extLst>
          </p:cNvPr>
          <p:cNvSpPr>
            <a:spLocks noGrp="1"/>
          </p:cNvSpPr>
          <p:nvPr>
            <p:ph idx="1"/>
          </p:nvPr>
        </p:nvSpPr>
        <p:spPr/>
        <p:txBody>
          <a:bodyPr>
            <a:normAutofit/>
          </a:bodyPr>
          <a:lstStyle/>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Data Cleaning Continued (MySQL)</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Combined all staging month tables into a single year table for analysis and established primary key</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Created, calculated, and populated new </a:t>
            </a:r>
            <a:r>
              <a:rPr lang="en-US" dirty="0" err="1">
                <a:latin typeface="Calibri" panose="020F0502020204030204" pitchFamily="34" charset="0"/>
                <a:ea typeface="Calibri" panose="020F0502020204030204" pitchFamily="34" charset="0"/>
                <a:cs typeface="Calibri" panose="020F0502020204030204" pitchFamily="34" charset="0"/>
              </a:rPr>
              <a:t>ride_length</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day_of_week</a:t>
            </a:r>
            <a:r>
              <a:rPr lang="en-US" dirty="0">
                <a:latin typeface="Calibri" panose="020F0502020204030204" pitchFamily="34" charset="0"/>
                <a:ea typeface="Calibri" panose="020F0502020204030204" pitchFamily="34" charset="0"/>
                <a:cs typeface="Calibri" panose="020F0502020204030204" pitchFamily="34" charset="0"/>
              </a:rPr>
              <a:t> columns</a:t>
            </a: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Exploratory Analysis (MySQL)</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Aggregated by ride type, hour of the day, duration bucket, day of week, and month</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Calculated  for ride count volume and average ride duration</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Copied query results to Excel for statistical analysis and visualization </a:t>
            </a:r>
          </a:p>
          <a:p>
            <a:pPr lvl="1">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lvl="1">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lvl="2">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lvl="1">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B72D85C7-BE61-014E-C762-41EE86A457FB}"/>
              </a:ext>
            </a:extLst>
          </p:cNvPr>
          <p:cNvSpPr>
            <a:spLocks noGrp="1"/>
          </p:cNvSpPr>
          <p:nvPr>
            <p:ph type="sldNum" sz="quarter" idx="12"/>
          </p:nvPr>
        </p:nvSpPr>
        <p:spPr/>
        <p:txBody>
          <a:bodyPr/>
          <a:lstStyle/>
          <a:p>
            <a:fld id="{73B850FF-6169-4056-8077-06FFA93A5366}" type="slidenum">
              <a:rPr lang="en-US" smtClean="0"/>
              <a:t>22</a:t>
            </a:fld>
            <a:endParaRPr lang="en-US"/>
          </a:p>
        </p:txBody>
      </p:sp>
    </p:spTree>
    <p:extLst>
      <p:ext uri="{BB962C8B-B14F-4D97-AF65-F5344CB8AC3E}">
        <p14:creationId xmlns:p14="http://schemas.microsoft.com/office/powerpoint/2010/main" val="1213959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54BF1-7553-FAB4-A4E5-637826069A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B64FA-4F4E-1D65-146D-F5DFC3A2395D}"/>
              </a:ext>
            </a:extLst>
          </p:cNvPr>
          <p:cNvSpPr>
            <a:spLocks noGrp="1"/>
          </p:cNvSpPr>
          <p:nvPr>
            <p:ph type="title"/>
          </p:nvPr>
        </p:nvSpPr>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Appendix B: Analysis Process Continued</a:t>
            </a:r>
          </a:p>
        </p:txBody>
      </p:sp>
      <p:sp>
        <p:nvSpPr>
          <p:cNvPr id="3" name="Content Placeholder 2">
            <a:extLst>
              <a:ext uri="{FF2B5EF4-FFF2-40B4-BE49-F238E27FC236}">
                <a16:creationId xmlns:a16="http://schemas.microsoft.com/office/drawing/2014/main" id="{BE1DC08F-C74A-03A3-A99C-D9059E6C6940}"/>
              </a:ext>
            </a:extLst>
          </p:cNvPr>
          <p:cNvSpPr>
            <a:spLocks noGrp="1"/>
          </p:cNvSpPr>
          <p:nvPr>
            <p:ph idx="1"/>
          </p:nvPr>
        </p:nvSpPr>
        <p:spPr/>
        <p:txBody>
          <a:bodyPr>
            <a:normAutofit/>
          </a:bodyPr>
          <a:lstStyle/>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Statistical Analysis (Excel)</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Explored and calculated statistics appropriate to each table</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Made interpretive notes that may or may not have been included in this presentation</a:t>
            </a: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Visualization (Excel, NOT Tableau)</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 Generated charts initially just for visual reference, but stayed in Excel for visualizations due to the simplicity of charts required and the precise aesthetic control</a:t>
            </a:r>
          </a:p>
          <a:p>
            <a:pPr lvl="1">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lvl="1">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lvl="2">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lvl="1">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46A11E2-FA4B-BB59-FC3F-582EE63B9DE3}"/>
              </a:ext>
            </a:extLst>
          </p:cNvPr>
          <p:cNvSpPr>
            <a:spLocks noGrp="1"/>
          </p:cNvSpPr>
          <p:nvPr>
            <p:ph type="sldNum" sz="quarter" idx="12"/>
          </p:nvPr>
        </p:nvSpPr>
        <p:spPr/>
        <p:txBody>
          <a:bodyPr/>
          <a:lstStyle/>
          <a:p>
            <a:fld id="{73B850FF-6169-4056-8077-06FFA93A5366}" type="slidenum">
              <a:rPr lang="en-US" smtClean="0"/>
              <a:t>23</a:t>
            </a:fld>
            <a:endParaRPr lang="en-US"/>
          </a:p>
        </p:txBody>
      </p:sp>
    </p:spTree>
    <p:extLst>
      <p:ext uri="{BB962C8B-B14F-4D97-AF65-F5344CB8AC3E}">
        <p14:creationId xmlns:p14="http://schemas.microsoft.com/office/powerpoint/2010/main" val="1233241297"/>
      </p:ext>
    </p:extLst>
  </p:cSld>
  <p:clrMapOvr>
    <a:masterClrMapping/>
  </p:clrMapOvr>
</p:sld>
</file>

<file path=ppt/theme/theme1.xml><?xml version="1.0" encoding="utf-8"?>
<a:theme xmlns:a="http://schemas.openxmlformats.org/drawingml/2006/main" name="ExploreVTI">
  <a:themeElements>
    <a:clrScheme name="Custom 33">
      <a:dk1>
        <a:sysClr val="windowText" lastClr="000000"/>
      </a:dk1>
      <a:lt1>
        <a:sysClr val="window" lastClr="FFFFFF"/>
      </a:lt1>
      <a:dk2>
        <a:srgbClr val="201449"/>
      </a:dk2>
      <a:lt2>
        <a:srgbClr val="F3F0E9"/>
      </a:lt2>
      <a:accent1>
        <a:srgbClr val="E45221"/>
      </a:accent1>
      <a:accent2>
        <a:srgbClr val="4D4EE6"/>
      </a:accent2>
      <a:accent3>
        <a:srgbClr val="454B78"/>
      </a:accent3>
      <a:accent4>
        <a:srgbClr val="A3A3C1"/>
      </a:accent4>
      <a:accent5>
        <a:srgbClr val="7162FE"/>
      </a:accent5>
      <a:accent6>
        <a:srgbClr val="1EBE9B"/>
      </a:accent6>
      <a:hlink>
        <a:srgbClr val="F900A0"/>
      </a:hlink>
      <a:folHlink>
        <a:srgbClr val="954F72"/>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Explore</Template>
  <TotalTime>2925</TotalTime>
  <Words>1524</Words>
  <Application>Microsoft Office PowerPoint</Application>
  <PresentationFormat>Widescreen</PresentationFormat>
  <Paragraphs>222</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Avenir Next LT Pro</vt:lpstr>
      <vt:lpstr>AvenirNext LT Pro Medium</vt:lpstr>
      <vt:lpstr>Calibri</vt:lpstr>
      <vt:lpstr>Posterama</vt:lpstr>
      <vt:lpstr>ExploreVTI</vt:lpstr>
      <vt:lpstr>Recreation vs Transportation</vt:lpstr>
      <vt:lpstr>Purpose</vt:lpstr>
      <vt:lpstr>Contents</vt:lpstr>
      <vt:lpstr>Classic or Electric</vt:lpstr>
      <vt:lpstr>Casuals on Classics</vt:lpstr>
      <vt:lpstr>Day in the Bike Share Life</vt:lpstr>
      <vt:lpstr>All Day Efficiency vs Exploration</vt:lpstr>
      <vt:lpstr>Time Bucket Productivity</vt:lpstr>
      <vt:lpstr>Time Bucket Distribution</vt:lpstr>
      <vt:lpstr>Welcome to the Week</vt:lpstr>
      <vt:lpstr>7-day Leisure</vt:lpstr>
      <vt:lpstr>Seasonal Extremes</vt:lpstr>
      <vt:lpstr>Year in the Saddle</vt:lpstr>
      <vt:lpstr>Member Conclusion: Essential Transportation</vt:lpstr>
      <vt:lpstr>Casuals Conclusion: Seasonal Recreation</vt:lpstr>
      <vt:lpstr>Key Takeaway</vt:lpstr>
      <vt:lpstr>Recommendations: Operational</vt:lpstr>
      <vt:lpstr>Recommendations: Pricing &amp; Revenue</vt:lpstr>
      <vt:lpstr>Recommendations: Marketing &amp; Growth</vt:lpstr>
      <vt:lpstr>Appendix A: Data Sources and Caveats</vt:lpstr>
      <vt:lpstr>Appendix B: Analysis Process</vt:lpstr>
      <vt:lpstr>Appendix B: Analysis Process Continued</vt:lpstr>
      <vt:lpstr>Appendix B: Analysis Process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Nate Butler</dc:creator>
  <cp:lastModifiedBy>Nate Butler</cp:lastModifiedBy>
  <cp:revision>79</cp:revision>
  <dcterms:created xsi:type="dcterms:W3CDTF">2026-01-27T00:01:19Z</dcterms:created>
  <dcterms:modified xsi:type="dcterms:W3CDTF">2026-02-26T21:22:11Z</dcterms:modified>
</cp:coreProperties>
</file>